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1.png" ContentType="image/png"/>
  <Override PartName="/ppt/media/image40.png" ContentType="image/png"/>
  <Override PartName="/ppt/media/image41.png" ContentType="image/png"/>
  <Override PartName="/ppt/media/image30.png" ContentType="image/png"/>
  <Override PartName="/ppt/media/image42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10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43.jpeg" ContentType="image/jpeg"/>
  <Override PartName="/ppt/media/image7.png" ContentType="image/png"/>
  <Override PartName="/ppt/media/image16.png" ContentType="image/png"/>
  <Override PartName="/ppt/media/image1.png" ContentType="image/png"/>
  <Override PartName="/ppt/media/image33.png" ContentType="image/png"/>
  <Override PartName="/ppt/slides/_rels/slide2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51522A3-73D6-411F-BD03-3D95F187CBD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Paper + token intro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=&gt; things impossible in low dimensions may become possible in higher dimension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C910E1-5D11-4807-BA3D-416295E3150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high dimensional pbs, we need A LOT of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1BE3D2-511C-4323-A16A-9A76A193157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Please don’t do grid search in high dimension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C05E62-40F0-4E76-9E56-7F2F72CE492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Seems hard to separate the two classes in 2D…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E9BC22-49E0-4A5C-A3C3-B2A7F07F4B2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But the 3</a:t>
            </a:r>
            <a:r>
              <a:rPr b="0" lang="en-US" sz="2000" spc="-1" strike="noStrike" baseline="30000">
                <a:solidFill>
                  <a:srgbClr val="000000"/>
                </a:solidFill>
                <a:latin typeface="Arial"/>
              </a:rPr>
              <a:t>rd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dimension might help!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=&gt; higher dimensional model might allow more simple models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5AE6F2-4DAF-4E19-95C5-1022F3CFFD9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With gradient descent on the 1D function, we can get stuck in a local minimum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But the 2</a:t>
            </a:r>
            <a:r>
              <a:rPr b="0" lang="en-US" sz="2000" spc="-1" strike="noStrike" baseline="30000">
                <a:solidFill>
                  <a:srgbClr val="000000"/>
                </a:solidFill>
                <a:latin typeface="Arial"/>
              </a:rPr>
              <a:t>nd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dimension may help!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=&gt; Gradient descent is suitable for high dimensional models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idea is that “there is (almost) always a direction that is not stuck”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F35FB4-BBCB-4E8C-A3F0-03959D42401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Make audience guess for 3D, 4D (and 5D?)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D1846B-626F-4723-9B9F-A5A687BDF91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makes sense that in higher dimensions, unknit balls have a larger volume”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A191C2-ACCF-4BE7-9B37-C694069ECC7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95A1DE-1388-4834-A0CE-6FF319991A1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Did you expect that?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=&gt; “intuitional induction” from low dimensions are sometimes wrong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=&gt; in high dimensions, unit balls are almost points (no volume) /!\ testing models with unit balls can be almost equivalent to testing with points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C75D23-4A0A-4E71-85F9-125DFAC76B8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 high dimension, almost all the volume of a ball in on the boundary  =&gt; both for unit AND non-unit balls!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=&gt; testing models on spheres or balls is very similar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14921A-4E53-4802-876F-E6CAC0443C9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4x4 square, centered at origin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B43FC79-B9E5-4C94-B6A6-50D3A853194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Fit 4 non-intersecting unit circles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26FBE4-6080-4593-BE7B-F27AC77AE90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Make a circle centered at origin, the largest possible without intersecting the blue circles: its radius is </a:t>
            </a:r>
            <a:r>
              <a:rPr b="1" lang="en-US" sz="1200" spc="-1" strike="noStrike">
                <a:solidFill>
                  <a:srgbClr val="c00000"/>
                </a:solidFill>
                <a:latin typeface="Cambria Math"/>
              </a:rPr>
              <a:t>√𝟐−𝟏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4732DB-8038-48BA-8AC8-6A7344730BE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4x4x4 cube, centered at origin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138159-1634-423A-8683-0E336757882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Fit 8 non-intersecting unit spheres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A45BB1-CA4E-4FAC-B26A-DABD4FA7536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Make a sphere centered at origin, the largest possible without intersecting the blue spheres: its radius is </a:t>
            </a:r>
            <a:r>
              <a:rPr b="1" lang="en-US" sz="1200" spc="-1" strike="noStrike">
                <a:solidFill>
                  <a:srgbClr val="c00000"/>
                </a:solidFill>
                <a:latin typeface="Cambria Math"/>
              </a:rPr>
              <a:t>√𝟑−𝟏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3E84DA-263E-4A8A-9429-5F28CA2BA44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wrong: the blue sphere still touch each other in high dimensions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F4657D-9A5D-4A24-AA54-673FC89111F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wrong: the blue sphere still touch each other in high dimensions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805723F-073C-49E9-B5BE-9FBFD354AA6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wrong: the red sphere remains convex in high dimensions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98B1BE-1B26-44ED-9C89-5373E3A6500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is wrong: the red sphere remains convex in high dimensions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B1FF8E-293D-43A6-BC87-694D2691249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Final note: mid-journey’s illustration of “high dimensions”… is probably not useful… or is it?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Merry Christmas 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FDF981-2901-4336-B201-B79576173BA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DE272-F95E-4BC8-B06C-2ED33DF76E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026D7C-4CC5-4B6A-9316-3A5F14D1C1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C87B32F-5D8F-4F49-B243-9693CBA855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0416DF2-68A6-41E8-B5E0-3068565FA1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581A131-F170-45A1-960A-47394DDDD6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3EF525F-A182-4C1A-AD34-9FF1719A61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D99EA79-E576-491B-93C0-79E2A8090D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7A80DB4-9D10-40EF-86E8-16C98819CF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FF761C3-D291-40A1-86B9-6436B0B75B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711280B-90E0-4947-BC06-46E7DE6944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490B589-9B10-45AF-8646-A45D46E85D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to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edit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Mast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er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title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C88C8B-EC9E-48B5-9848-5428C531ED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ck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as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x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22A9DB-2E17-4B37-B1AE-E053524FDF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654DB4-19ED-4213-B876-1E207DA5E0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069F37-6075-4F22-8844-296CF4C1BE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90B465-CCA2-4709-A09F-727DDB930C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688C03-1A3C-408D-BC53-F2EB81E641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42B875-B51F-41C2-A39D-A1CB80AF8A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3DDE84-EF6A-479B-A068-D33B156A78E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B10419-36EC-46CB-92B6-5D45DC5B87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F280B3-5824-4FC6-B5C2-B06E5C771A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7"/>
          <p:cNvSpPr/>
          <p:nvPr/>
        </p:nvSpPr>
        <p:spPr>
          <a:xfrm>
            <a:off x="63360" y="6642000"/>
            <a:ext cx="4330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  <a:ea typeface="Calibri"/>
              </a:rPr>
              <a:t>Internal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8044B4-7222-4238-A6AE-2DC22287E7B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hyperlink" Target="https://www.midjourney.com/" TargetMode="External"/><Relationship Id="rId2" Type="http://schemas.openxmlformats.org/officeDocument/2006/relationships/image" Target="../media/image43.jpeg"/><Relationship Id="rId3" Type="http://schemas.openxmlformats.org/officeDocument/2006/relationships/image" Target="../media/image38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1960" y="342900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i="1" lang="en-US" sz="6000" spc="-1" strike="noStrike">
                <a:solidFill>
                  <a:schemeClr val="dk1"/>
                </a:solidFill>
                <a:latin typeface="Calibri Light"/>
              </a:rPr>
              <a:t>Understanding where</a:t>
            </a:r>
            <a:br>
              <a:rPr sz="6000"/>
            </a:br>
            <a:r>
              <a:rPr b="1" i="1" lang="en-US" sz="6000" spc="-1" strike="noStrike">
                <a:solidFill>
                  <a:schemeClr val="dk1"/>
                </a:solidFill>
                <a:latin typeface="Calibri Light"/>
              </a:rPr>
              <a:t>models live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717120" y="1828800"/>
            <a:ext cx="107578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60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Calibri Light"/>
              </a:rPr>
              <a:t>HIGH DIMENSIONS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Curse of dimensionality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86" name="Group 14"/>
          <p:cNvGrpSpPr/>
          <p:nvPr/>
        </p:nvGrpSpPr>
        <p:grpSpPr>
          <a:xfrm>
            <a:off x="91440" y="1690560"/>
            <a:ext cx="12008880" cy="4038120"/>
            <a:chOff x="91440" y="1690560"/>
            <a:chExt cx="12008880" cy="4038120"/>
          </a:xfrm>
        </p:grpSpPr>
        <p:pic>
          <p:nvPicPr>
            <p:cNvPr id="87" name="Picture 8" descr=""/>
            <p:cNvPicPr/>
            <p:nvPr/>
          </p:nvPicPr>
          <p:blipFill>
            <a:blip r:embed="rId1"/>
            <a:stretch/>
          </p:blipFill>
          <p:spPr>
            <a:xfrm>
              <a:off x="8195400" y="1690560"/>
              <a:ext cx="3904920" cy="4038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8" name="Picture 10" descr=""/>
            <p:cNvPicPr/>
            <p:nvPr/>
          </p:nvPicPr>
          <p:blipFill>
            <a:blip r:embed="rId2"/>
            <a:stretch/>
          </p:blipFill>
          <p:spPr>
            <a:xfrm>
              <a:off x="4143240" y="1690560"/>
              <a:ext cx="3904920" cy="40381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9" name="Picture 12" descr=""/>
            <p:cNvPicPr/>
            <p:nvPr/>
          </p:nvPicPr>
          <p:blipFill>
            <a:blip r:embed="rId3"/>
            <a:stretch/>
          </p:blipFill>
          <p:spPr>
            <a:xfrm>
              <a:off x="91440" y="1690560"/>
              <a:ext cx="3904920" cy="403812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Curse of dimensionality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1" name="Content Placeholder 8" descr=""/>
          <p:cNvPicPr/>
          <p:nvPr/>
        </p:nvPicPr>
        <p:blipFill>
          <a:blip r:embed="rId1"/>
          <a:stretch/>
        </p:blipFill>
        <p:spPr>
          <a:xfrm>
            <a:off x="3163680" y="1690560"/>
            <a:ext cx="5864760" cy="462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Content Placeholder 33" descr=""/>
          <p:cNvPicPr/>
          <p:nvPr/>
        </p:nvPicPr>
        <p:blipFill>
          <a:blip r:embed="rId1"/>
          <a:stretch/>
        </p:blipFill>
        <p:spPr>
          <a:xfrm>
            <a:off x="4361400" y="700200"/>
            <a:ext cx="8802720" cy="660204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Blessing of dimensionality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4" name="Content Placeholder 15" descr=""/>
          <p:cNvPicPr/>
          <p:nvPr/>
        </p:nvPicPr>
        <p:blipFill>
          <a:blip r:embed="rId2"/>
          <a:stretch/>
        </p:blipFill>
        <p:spPr>
          <a:xfrm>
            <a:off x="685800" y="2238480"/>
            <a:ext cx="5181120" cy="391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Content Placeholder 33" descr=""/>
          <p:cNvPicPr/>
          <p:nvPr/>
        </p:nvPicPr>
        <p:blipFill>
          <a:blip r:embed="rId1"/>
          <a:stretch/>
        </p:blipFill>
        <p:spPr>
          <a:xfrm>
            <a:off x="4361400" y="700200"/>
            <a:ext cx="8802720" cy="6602040"/>
          </a:xfrm>
          <a:prstGeom prst="rect">
            <a:avLst/>
          </a:prstGeom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Blessing of dimensionality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7" name="Content Placeholder 15" descr=""/>
          <p:cNvPicPr/>
          <p:nvPr/>
        </p:nvPicPr>
        <p:blipFill>
          <a:blip r:embed="rId2"/>
          <a:stretch/>
        </p:blipFill>
        <p:spPr>
          <a:xfrm>
            <a:off x="685800" y="2238480"/>
            <a:ext cx="5181120" cy="391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Content Placeholder 33" descr=""/>
          <p:cNvPicPr/>
          <p:nvPr/>
        </p:nvPicPr>
        <p:blipFill>
          <a:blip r:embed="rId1"/>
          <a:stretch/>
        </p:blipFill>
        <p:spPr>
          <a:xfrm>
            <a:off x="4361400" y="700200"/>
            <a:ext cx="8802720" cy="660204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Blessing of dimensionality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0" name="Content Placeholder 15" descr=""/>
          <p:cNvPicPr/>
          <p:nvPr/>
        </p:nvPicPr>
        <p:blipFill>
          <a:blip r:embed="rId2"/>
          <a:stretch/>
        </p:blipFill>
        <p:spPr>
          <a:xfrm>
            <a:off x="685800" y="2238480"/>
            <a:ext cx="5181120" cy="391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Content Placeholder 33" descr=""/>
          <p:cNvPicPr/>
          <p:nvPr/>
        </p:nvPicPr>
        <p:blipFill>
          <a:blip r:embed="rId1"/>
          <a:stretch/>
        </p:blipFill>
        <p:spPr>
          <a:xfrm>
            <a:off x="4361400" y="700200"/>
            <a:ext cx="8802720" cy="660204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Blessing of dimensionality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3" name="Content Placeholder 15" descr=""/>
          <p:cNvPicPr/>
          <p:nvPr/>
        </p:nvPicPr>
        <p:blipFill>
          <a:blip r:embed="rId2"/>
          <a:stretch/>
        </p:blipFill>
        <p:spPr>
          <a:xfrm>
            <a:off x="685800" y="2238480"/>
            <a:ext cx="5181120" cy="391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Blessing of dimensionality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5" name="Content Placeholder 22" descr=""/>
          <p:cNvPicPr/>
          <p:nvPr/>
        </p:nvPicPr>
        <p:blipFill>
          <a:blip r:embed="rId1"/>
          <a:stretch/>
        </p:blipFill>
        <p:spPr>
          <a:xfrm>
            <a:off x="5334120" y="1429560"/>
            <a:ext cx="6857640" cy="5143320"/>
          </a:xfrm>
          <a:prstGeom prst="rect">
            <a:avLst/>
          </a:prstGeom>
          <a:ln w="0">
            <a:noFill/>
          </a:ln>
        </p:spPr>
      </p:pic>
      <p:pic>
        <p:nvPicPr>
          <p:cNvPr id="106" name="Content Placeholder 26" descr=""/>
          <p:cNvPicPr/>
          <p:nvPr/>
        </p:nvPicPr>
        <p:blipFill>
          <a:blip r:embed="rId2"/>
          <a:stretch/>
        </p:blipFill>
        <p:spPr>
          <a:xfrm>
            <a:off x="177840" y="2118960"/>
            <a:ext cx="5816160" cy="402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blipFill rotWithShape="0">
            <a:blip r:embed="rId1"/>
            <a:stretch>
              <a:fillRect l="-2379" t="-13" b="-13"/>
            </a:stretch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ffffff">
                    <a:alpha val="1000"/>
                  </a:srgbClr>
                </a:solidFill>
                <a:latin typeface="Calibri Light"/>
              </a:rPr>
              <a:t> 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2"/>
            <a:stretch>
              <a:fillRect l="-1044" t="-224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7523640" y="643320"/>
            <a:ext cx="4177080" cy="7689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3606840" y="1296360"/>
            <a:ext cx="1147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>
                    <a:lumMod val="50000"/>
                  </a:schemeClr>
                </a:solidFill>
                <a:latin typeface="Calibri"/>
              </a:rPr>
              <a:t>(length)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6606360" y="1346040"/>
            <a:ext cx="911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>
                    <a:lumMod val="50000"/>
                  </a:schemeClr>
                </a:solidFill>
                <a:latin typeface="Calibri"/>
              </a:rPr>
              <a:t>(area)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Freeform: Shape 6"/>
          <p:cNvSpPr/>
          <p:nvPr/>
        </p:nvSpPr>
        <p:spPr>
          <a:xfrm>
            <a:off x="5514840" y="1690560"/>
            <a:ext cx="1134000" cy="766440"/>
          </a:xfrm>
          <a:custGeom>
            <a:avLst/>
            <a:gdLst>
              <a:gd name="textAreaLeft" fmla="*/ 0 w 1134000"/>
              <a:gd name="textAreaRight" fmla="*/ 1134360 w 1134000"/>
              <a:gd name="textAreaTop" fmla="*/ 0 h 766440"/>
              <a:gd name="textAreaBottom" fmla="*/ 766800 h 766440"/>
            </a:gdLst>
            <a:ahLst/>
            <a:rect l="textAreaLeft" t="textAreaTop" r="textAreaRight" b="textAreaBottom"/>
            <a:pathLst>
              <a:path w="723900" h="1000125">
                <a:moveTo>
                  <a:pt x="723900" y="0"/>
                </a:moveTo>
                <a:cubicBezTo>
                  <a:pt x="522287" y="188119"/>
                  <a:pt x="320675" y="376238"/>
                  <a:pt x="200025" y="542925"/>
                </a:cubicBezTo>
                <a:cubicBezTo>
                  <a:pt x="79375" y="709612"/>
                  <a:pt x="39687" y="854868"/>
                  <a:pt x="0" y="1000125"/>
                </a:cubicBezTo>
              </a:path>
            </a:pathLst>
          </a:custGeom>
          <a:noFill/>
          <a:ln w="28575">
            <a:solidFill>
              <a:srgbClr val="ffffff">
                <a:lumMod val="50000"/>
              </a:srgbClr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Freeform: Shape 7"/>
          <p:cNvSpPr/>
          <p:nvPr/>
        </p:nvSpPr>
        <p:spPr>
          <a:xfrm flipH="1">
            <a:off x="4685760" y="1562040"/>
            <a:ext cx="628200" cy="461160"/>
          </a:xfrm>
          <a:custGeom>
            <a:avLst/>
            <a:gdLst>
              <a:gd name="textAreaLeft" fmla="*/ -360 w 628200"/>
              <a:gd name="textAreaRight" fmla="*/ 628200 w 628200"/>
              <a:gd name="textAreaTop" fmla="*/ 0 h 461160"/>
              <a:gd name="textAreaBottom" fmla="*/ 461520 h 461160"/>
            </a:gdLst>
            <a:ahLst/>
            <a:rect l="textAreaLeft" t="textAreaTop" r="textAreaRight" b="textAreaBottom"/>
            <a:pathLst>
              <a:path w="723900" h="1000125">
                <a:moveTo>
                  <a:pt x="723900" y="0"/>
                </a:moveTo>
                <a:cubicBezTo>
                  <a:pt x="522287" y="188119"/>
                  <a:pt x="320675" y="376238"/>
                  <a:pt x="200025" y="542925"/>
                </a:cubicBezTo>
                <a:cubicBezTo>
                  <a:pt x="79375" y="709612"/>
                  <a:pt x="39687" y="854868"/>
                  <a:pt x="0" y="1000125"/>
                </a:cubicBezTo>
              </a:path>
            </a:pathLst>
          </a:custGeom>
          <a:noFill/>
          <a:ln w="28575">
            <a:solidFill>
              <a:srgbClr val="ffffff">
                <a:lumMod val="50000"/>
              </a:srgbClr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blipFill rotWithShape="0">
            <a:blip r:embed="rId1"/>
            <a:stretch>
              <a:fillRect l="-2379" t="-13" b="-13"/>
            </a:stretch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ffffff">
                    <a:alpha val="1000"/>
                  </a:srgbClr>
                </a:solidFill>
                <a:latin typeface="Calibri Light"/>
              </a:rPr>
              <a:t> 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5" name="Content Placeholder 10" descr=""/>
          <p:cNvPicPr/>
          <p:nvPr/>
        </p:nvPicPr>
        <p:blipFill>
          <a:blip r:embed="rId2"/>
          <a:stretch/>
        </p:blipFill>
        <p:spPr>
          <a:xfrm>
            <a:off x="2797200" y="1509840"/>
            <a:ext cx="6597720" cy="498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blipFill rotWithShape="0">
            <a:blip r:embed="rId1"/>
            <a:stretch>
              <a:fillRect l="-2379" t="-13" b="-13"/>
            </a:stretch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ffffff">
                    <a:alpha val="1000"/>
                  </a:srgbClr>
                </a:solidFill>
                <a:latin typeface="Calibri Light"/>
              </a:rPr>
              <a:t> 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5032080"/>
          </a:xfrm>
          <a:prstGeom prst="rect">
            <a:avLst/>
          </a:prstGeom>
          <a:blipFill rotWithShape="0">
            <a:blip r:embed="rId2"/>
            <a:stretch>
              <a:fillRect l="-1044" t="-2668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7807680" y="231480"/>
            <a:ext cx="4079880" cy="13640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" dur="indefinite" restart="never" nodeType="tmRoot">
          <p:childTnLst>
            <p:seq>
              <p:cTn id="55" dur="indefinite" nodeType="mainSeq">
                <p:childTnLst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" dur="50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" dur="500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500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blipFill rotWithShape="0">
            <a:blip r:embed="rId1"/>
            <a:stretch>
              <a:fillRect l="-2379" t="-13" b="-13"/>
            </a:stretch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ffffff">
                    <a:alpha val="1000"/>
                  </a:srgbClr>
                </a:solidFill>
                <a:latin typeface="Calibri Light"/>
              </a:rPr>
              <a:t> 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0" name="Content Placeholder 10" descr=""/>
          <p:cNvPicPr/>
          <p:nvPr/>
        </p:nvPicPr>
        <p:blipFill>
          <a:blip r:embed="rId2"/>
          <a:stretch/>
        </p:blipFill>
        <p:spPr>
          <a:xfrm>
            <a:off x="2797200" y="1509840"/>
            <a:ext cx="6597720" cy="498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ffffff">
                    <a:alpha val="1000"/>
                  </a:srgbClr>
                </a:solidFill>
                <a:latin typeface="Calibri Light"/>
              </a:rPr>
              <a:t> 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5240" cy="516708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9111960" y="3755880"/>
            <a:ext cx="2241360" cy="5227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7847640" y="3755880"/>
            <a:ext cx="882000" cy="5227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" dur="indefinite" restart="never" nodeType="tmRoot">
          <p:childTnLst>
            <p:seq>
              <p:cTn id="77" dur="indefinite" nodeType="mainSeq">
                <p:childTnLst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4 circles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Freeform: Shape 10"/>
          <p:cNvSpPr/>
          <p:nvPr/>
        </p:nvSpPr>
        <p:spPr>
          <a:xfrm>
            <a:off x="6100560" y="1172520"/>
            <a:ext cx="56880" cy="5672880"/>
          </a:xfrm>
          <a:custGeom>
            <a:avLst/>
            <a:gdLst>
              <a:gd name="textAreaLeft" fmla="*/ 0 w 56880"/>
              <a:gd name="textAreaRight" fmla="*/ 57240 w 56880"/>
              <a:gd name="textAreaTop" fmla="*/ 0 h 5672880"/>
              <a:gd name="textAreaBottom" fmla="*/ 5673240 h 5672880"/>
            </a:gdLst>
            <a:ahLst/>
            <a:rect l="textAreaLeft" t="textAreaTop" r="textAreaRight" b="textAreaBottom"/>
            <a:pathLst>
              <a:path w="57134" h="5673416">
                <a:moveTo>
                  <a:pt x="0" y="5673417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Freeform: Shape 11"/>
          <p:cNvSpPr/>
          <p:nvPr/>
        </p:nvSpPr>
        <p:spPr>
          <a:xfrm>
            <a:off x="3243960" y="3989160"/>
            <a:ext cx="5672880" cy="56880"/>
          </a:xfrm>
          <a:custGeom>
            <a:avLst/>
            <a:gdLst>
              <a:gd name="textAreaLeft" fmla="*/ 0 w 5672880"/>
              <a:gd name="textAreaRight" fmla="*/ 5673240 w 5672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73416" h="57134">
                <a:moveTo>
                  <a:pt x="0" y="0"/>
                </a:moveTo>
                <a:lnTo>
                  <a:pt x="5673417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4 circles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Freeform: Shape 10"/>
          <p:cNvSpPr/>
          <p:nvPr/>
        </p:nvSpPr>
        <p:spPr>
          <a:xfrm>
            <a:off x="6100560" y="1172520"/>
            <a:ext cx="56880" cy="5672880"/>
          </a:xfrm>
          <a:custGeom>
            <a:avLst/>
            <a:gdLst>
              <a:gd name="textAreaLeft" fmla="*/ 0 w 56880"/>
              <a:gd name="textAreaRight" fmla="*/ 57240 w 56880"/>
              <a:gd name="textAreaTop" fmla="*/ 0 h 5672880"/>
              <a:gd name="textAreaBottom" fmla="*/ 5673240 h 5672880"/>
            </a:gdLst>
            <a:ahLst/>
            <a:rect l="textAreaLeft" t="textAreaTop" r="textAreaRight" b="textAreaBottom"/>
            <a:pathLst>
              <a:path w="57134" h="5673416">
                <a:moveTo>
                  <a:pt x="0" y="5673417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Freeform: Shape 11"/>
          <p:cNvSpPr/>
          <p:nvPr/>
        </p:nvSpPr>
        <p:spPr>
          <a:xfrm>
            <a:off x="3243960" y="3989160"/>
            <a:ext cx="5672880" cy="56880"/>
          </a:xfrm>
          <a:custGeom>
            <a:avLst/>
            <a:gdLst>
              <a:gd name="textAreaLeft" fmla="*/ 0 w 5672880"/>
              <a:gd name="textAreaRight" fmla="*/ 5673240 w 5672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73416" h="57134">
                <a:moveTo>
                  <a:pt x="0" y="0"/>
                </a:moveTo>
                <a:lnTo>
                  <a:pt x="5673417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Freeform: Shape 16"/>
          <p:cNvSpPr/>
          <p:nvPr/>
        </p:nvSpPr>
        <p:spPr>
          <a:xfrm>
            <a:off x="3772440" y="1661040"/>
            <a:ext cx="4656240" cy="4656240"/>
          </a:xfrm>
          <a:custGeom>
            <a:avLst/>
            <a:gdLst>
              <a:gd name="textAreaLeft" fmla="*/ 0 w 4656240"/>
              <a:gd name="textAreaRight" fmla="*/ 4656600 w 4656240"/>
              <a:gd name="textAreaTop" fmla="*/ 0 h 4656240"/>
              <a:gd name="textAreaBottom" fmla="*/ 4656600 h 4656240"/>
            </a:gdLst>
            <a:ahLst/>
            <a:rect l="textAreaLeft" t="textAreaTop" r="textAreaRight" b="textAreaBottom"/>
            <a:pathLst>
              <a:path w="4656430" h="4656430">
                <a:moveTo>
                  <a:pt x="0" y="0"/>
                </a:moveTo>
                <a:lnTo>
                  <a:pt x="4656431" y="0"/>
                </a:lnTo>
                <a:lnTo>
                  <a:pt x="4656431" y="4656431"/>
                </a:lnTo>
                <a:lnTo>
                  <a:pt x="0" y="4656431"/>
                </a:lnTo>
                <a:close/>
              </a:path>
            </a:pathLst>
          </a:custGeom>
          <a:noFill/>
          <a:ln cap="rnd" w="57055">
            <a:solidFill>
              <a:srgbClr val="5a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8492760" y="1221840"/>
            <a:ext cx="853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(2,2)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8494200" y="6082920"/>
            <a:ext cx="961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(2,-2)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2802600" y="1221840"/>
            <a:ext cx="961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(-2,2)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2692440" y="6082920"/>
            <a:ext cx="1071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(-2,-2)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4 circles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Freeform: Shape 10"/>
          <p:cNvSpPr/>
          <p:nvPr/>
        </p:nvSpPr>
        <p:spPr>
          <a:xfrm>
            <a:off x="6100560" y="1172520"/>
            <a:ext cx="56880" cy="5672880"/>
          </a:xfrm>
          <a:custGeom>
            <a:avLst/>
            <a:gdLst>
              <a:gd name="textAreaLeft" fmla="*/ 0 w 56880"/>
              <a:gd name="textAreaRight" fmla="*/ 57240 w 56880"/>
              <a:gd name="textAreaTop" fmla="*/ 0 h 5672880"/>
              <a:gd name="textAreaBottom" fmla="*/ 5673240 h 5672880"/>
            </a:gdLst>
            <a:ahLst/>
            <a:rect l="textAreaLeft" t="textAreaTop" r="textAreaRight" b="textAreaBottom"/>
            <a:pathLst>
              <a:path w="57134" h="5673416">
                <a:moveTo>
                  <a:pt x="0" y="5673417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Freeform: Shape 11"/>
          <p:cNvSpPr/>
          <p:nvPr/>
        </p:nvSpPr>
        <p:spPr>
          <a:xfrm>
            <a:off x="3243960" y="3989160"/>
            <a:ext cx="5672880" cy="56880"/>
          </a:xfrm>
          <a:custGeom>
            <a:avLst/>
            <a:gdLst>
              <a:gd name="textAreaLeft" fmla="*/ 0 w 5672880"/>
              <a:gd name="textAreaRight" fmla="*/ 5673240 w 5672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73416" h="57134">
                <a:moveTo>
                  <a:pt x="0" y="0"/>
                </a:moveTo>
                <a:lnTo>
                  <a:pt x="5673417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Freeform: Shape 12"/>
          <p:cNvSpPr/>
          <p:nvPr/>
        </p:nvSpPr>
        <p:spPr>
          <a:xfrm>
            <a:off x="719856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9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9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Freeform: Shape 13"/>
          <p:cNvSpPr/>
          <p:nvPr/>
        </p:nvSpPr>
        <p:spPr>
          <a:xfrm>
            <a:off x="488448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9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9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Freeform: Shape 14"/>
          <p:cNvSpPr/>
          <p:nvPr/>
        </p:nvSpPr>
        <p:spPr>
          <a:xfrm>
            <a:off x="488448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2" name="Freeform: Shape 15"/>
          <p:cNvSpPr/>
          <p:nvPr/>
        </p:nvSpPr>
        <p:spPr>
          <a:xfrm>
            <a:off x="719856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Freeform: Shape 16"/>
          <p:cNvSpPr/>
          <p:nvPr/>
        </p:nvSpPr>
        <p:spPr>
          <a:xfrm>
            <a:off x="3772440" y="1661040"/>
            <a:ext cx="4656240" cy="4656240"/>
          </a:xfrm>
          <a:custGeom>
            <a:avLst/>
            <a:gdLst>
              <a:gd name="textAreaLeft" fmla="*/ 0 w 4656240"/>
              <a:gd name="textAreaRight" fmla="*/ 4656600 w 4656240"/>
              <a:gd name="textAreaTop" fmla="*/ 0 h 4656240"/>
              <a:gd name="textAreaBottom" fmla="*/ 4656600 h 4656240"/>
            </a:gdLst>
            <a:ahLst/>
            <a:rect l="textAreaLeft" t="textAreaTop" r="textAreaRight" b="textAreaBottom"/>
            <a:pathLst>
              <a:path w="4656430" h="4656430">
                <a:moveTo>
                  <a:pt x="0" y="0"/>
                </a:moveTo>
                <a:lnTo>
                  <a:pt x="4656431" y="0"/>
                </a:lnTo>
                <a:lnTo>
                  <a:pt x="4656431" y="4656431"/>
                </a:lnTo>
                <a:lnTo>
                  <a:pt x="0" y="4656431"/>
                </a:lnTo>
                <a:close/>
              </a:path>
            </a:pathLst>
          </a:custGeom>
          <a:noFill/>
          <a:ln cap="rnd" w="57055">
            <a:solidFill>
              <a:srgbClr val="5a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Freeform: Shape 17"/>
          <p:cNvSpPr/>
          <p:nvPr/>
        </p:nvSpPr>
        <p:spPr>
          <a:xfrm>
            <a:off x="6137640" y="171216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0"/>
                  <a:pt x="1120080" y="2240160"/>
                </a:cubicBezTo>
                <a:cubicBezTo>
                  <a:pt x="501477" y="2240160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Freeform: Shape 18"/>
          <p:cNvSpPr/>
          <p:nvPr/>
        </p:nvSpPr>
        <p:spPr>
          <a:xfrm>
            <a:off x="3823560" y="171216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0"/>
                  <a:pt x="1120080" y="2240160"/>
                </a:cubicBezTo>
                <a:cubicBezTo>
                  <a:pt x="501477" y="2240160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Freeform: Shape 19"/>
          <p:cNvSpPr/>
          <p:nvPr/>
        </p:nvSpPr>
        <p:spPr>
          <a:xfrm>
            <a:off x="3823560" y="402588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1"/>
                  <a:pt x="1120080" y="2240161"/>
                </a:cubicBezTo>
                <a:cubicBezTo>
                  <a:pt x="501477" y="2240161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Freeform: Shape 20"/>
          <p:cNvSpPr/>
          <p:nvPr/>
        </p:nvSpPr>
        <p:spPr>
          <a:xfrm>
            <a:off x="6137640" y="402588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1"/>
                  <a:pt x="1120080" y="2240161"/>
                </a:cubicBezTo>
                <a:cubicBezTo>
                  <a:pt x="501477" y="2240161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8492760" y="1221840"/>
            <a:ext cx="853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(2,2)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8494200" y="6082920"/>
            <a:ext cx="961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(2,-2)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2802600" y="1221840"/>
            <a:ext cx="961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(-2,2)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2692440" y="6082920"/>
            <a:ext cx="1071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(-2,-2)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7240680" y="2408760"/>
            <a:ext cx="757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808080"/>
                </a:solidFill>
                <a:latin typeface="Calibri"/>
              </a:rPr>
              <a:t>(1,1)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4126680" y="2405520"/>
            <a:ext cx="851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808080"/>
                </a:solidFill>
                <a:latin typeface="Calibri"/>
              </a:rPr>
              <a:t>(-1,1)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8"/>
          <p:cNvSpPr/>
          <p:nvPr/>
        </p:nvSpPr>
        <p:spPr>
          <a:xfrm>
            <a:off x="3992400" y="5080680"/>
            <a:ext cx="94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808080"/>
                </a:solidFill>
                <a:latin typeface="Calibri"/>
              </a:rPr>
              <a:t>(-1,-1)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7251480" y="5080680"/>
            <a:ext cx="851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808080"/>
                </a:solidFill>
                <a:latin typeface="Calibri"/>
              </a:rPr>
              <a:t>(1,-1)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: Rounded Corners 22"/>
          <p:cNvSpPr/>
          <p:nvPr/>
        </p:nvSpPr>
        <p:spPr>
          <a:xfrm>
            <a:off x="6816960" y="2023920"/>
            <a:ext cx="317160" cy="457560"/>
          </a:xfrm>
          <a:prstGeom prst="roundRect">
            <a:avLst>
              <a:gd name="adj" fmla="val 5000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7" name="Straight Arrow Connector 23"/>
          <p:cNvCxnSpPr/>
          <p:nvPr/>
        </p:nvCxnSpPr>
        <p:spPr>
          <a:xfrm>
            <a:off x="6534000" y="1981080"/>
            <a:ext cx="712800" cy="848160"/>
          </a:xfrm>
          <a:prstGeom prst="straightConnector1">
            <a:avLst/>
          </a:prstGeom>
          <a:ln w="38100">
            <a:solidFill>
              <a:srgbClr val="5b9bd5"/>
            </a:solidFill>
            <a:headEnd len="med" type="arrow" w="med"/>
            <a:tailEnd len="med" type="arrow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500"/>
                            </p:stCondLst>
                            <p:childTnLst>
                              <p:par>
                                <p:cTn id="16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4 circles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Freeform: Shape 10"/>
          <p:cNvSpPr/>
          <p:nvPr/>
        </p:nvSpPr>
        <p:spPr>
          <a:xfrm>
            <a:off x="6100560" y="1172520"/>
            <a:ext cx="56880" cy="5672880"/>
          </a:xfrm>
          <a:custGeom>
            <a:avLst/>
            <a:gdLst>
              <a:gd name="textAreaLeft" fmla="*/ 0 w 56880"/>
              <a:gd name="textAreaRight" fmla="*/ 57240 w 56880"/>
              <a:gd name="textAreaTop" fmla="*/ 0 h 5672880"/>
              <a:gd name="textAreaBottom" fmla="*/ 5673240 h 5672880"/>
            </a:gdLst>
            <a:ahLst/>
            <a:rect l="textAreaLeft" t="textAreaTop" r="textAreaRight" b="textAreaBottom"/>
            <a:pathLst>
              <a:path w="57134" h="5673416">
                <a:moveTo>
                  <a:pt x="0" y="5673417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Freeform: Shape 11"/>
          <p:cNvSpPr/>
          <p:nvPr/>
        </p:nvSpPr>
        <p:spPr>
          <a:xfrm>
            <a:off x="3243960" y="3989160"/>
            <a:ext cx="5672880" cy="56880"/>
          </a:xfrm>
          <a:custGeom>
            <a:avLst/>
            <a:gdLst>
              <a:gd name="textAreaLeft" fmla="*/ 0 w 5672880"/>
              <a:gd name="textAreaRight" fmla="*/ 5673240 w 5672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73416" h="57134">
                <a:moveTo>
                  <a:pt x="0" y="0"/>
                </a:moveTo>
                <a:lnTo>
                  <a:pt x="5673417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Freeform: Shape 12"/>
          <p:cNvSpPr/>
          <p:nvPr/>
        </p:nvSpPr>
        <p:spPr>
          <a:xfrm>
            <a:off x="719856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9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9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Freeform: Shape 13"/>
          <p:cNvSpPr/>
          <p:nvPr/>
        </p:nvSpPr>
        <p:spPr>
          <a:xfrm>
            <a:off x="488448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9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9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Freeform: Shape 14"/>
          <p:cNvSpPr/>
          <p:nvPr/>
        </p:nvSpPr>
        <p:spPr>
          <a:xfrm>
            <a:off x="488448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Freeform: Shape 15"/>
          <p:cNvSpPr/>
          <p:nvPr/>
        </p:nvSpPr>
        <p:spPr>
          <a:xfrm>
            <a:off x="719856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Freeform: Shape 16"/>
          <p:cNvSpPr/>
          <p:nvPr/>
        </p:nvSpPr>
        <p:spPr>
          <a:xfrm>
            <a:off x="3772440" y="1661040"/>
            <a:ext cx="4656240" cy="4656240"/>
          </a:xfrm>
          <a:custGeom>
            <a:avLst/>
            <a:gdLst>
              <a:gd name="textAreaLeft" fmla="*/ 0 w 4656240"/>
              <a:gd name="textAreaRight" fmla="*/ 4656600 w 4656240"/>
              <a:gd name="textAreaTop" fmla="*/ 0 h 4656240"/>
              <a:gd name="textAreaBottom" fmla="*/ 4656600 h 4656240"/>
            </a:gdLst>
            <a:ahLst/>
            <a:rect l="textAreaLeft" t="textAreaTop" r="textAreaRight" b="textAreaBottom"/>
            <a:pathLst>
              <a:path w="4656430" h="4656430">
                <a:moveTo>
                  <a:pt x="0" y="0"/>
                </a:moveTo>
                <a:lnTo>
                  <a:pt x="4656431" y="0"/>
                </a:lnTo>
                <a:lnTo>
                  <a:pt x="4656431" y="4656431"/>
                </a:lnTo>
                <a:lnTo>
                  <a:pt x="0" y="4656431"/>
                </a:lnTo>
                <a:close/>
              </a:path>
            </a:pathLst>
          </a:custGeom>
          <a:noFill/>
          <a:ln cap="rnd" w="57055">
            <a:solidFill>
              <a:srgbClr val="5a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" name="Freeform: Shape 17"/>
          <p:cNvSpPr/>
          <p:nvPr/>
        </p:nvSpPr>
        <p:spPr>
          <a:xfrm>
            <a:off x="6137640" y="171216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0"/>
                  <a:pt x="1120080" y="2240160"/>
                </a:cubicBezTo>
                <a:cubicBezTo>
                  <a:pt x="501477" y="2240160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Freeform: Shape 18"/>
          <p:cNvSpPr/>
          <p:nvPr/>
        </p:nvSpPr>
        <p:spPr>
          <a:xfrm>
            <a:off x="3823560" y="171216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0"/>
                  <a:pt x="1120080" y="2240160"/>
                </a:cubicBezTo>
                <a:cubicBezTo>
                  <a:pt x="501477" y="2240160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8" name="Freeform: Shape 19"/>
          <p:cNvSpPr/>
          <p:nvPr/>
        </p:nvSpPr>
        <p:spPr>
          <a:xfrm>
            <a:off x="3823560" y="402588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1"/>
                  <a:pt x="1120080" y="2240161"/>
                </a:cubicBezTo>
                <a:cubicBezTo>
                  <a:pt x="501477" y="2240161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" name="Freeform: Shape 20"/>
          <p:cNvSpPr/>
          <p:nvPr/>
        </p:nvSpPr>
        <p:spPr>
          <a:xfrm>
            <a:off x="6137640" y="402588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1"/>
                  <a:pt x="1120080" y="2240161"/>
                </a:cubicBezTo>
                <a:cubicBezTo>
                  <a:pt x="501477" y="2240161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" name="Freeform: Shape 21"/>
          <p:cNvSpPr/>
          <p:nvPr/>
        </p:nvSpPr>
        <p:spPr>
          <a:xfrm>
            <a:off x="5616360" y="3504600"/>
            <a:ext cx="968400" cy="968400"/>
          </a:xfrm>
          <a:custGeom>
            <a:avLst/>
            <a:gdLst>
              <a:gd name="textAreaLeft" fmla="*/ 0 w 968400"/>
              <a:gd name="textAreaRight" fmla="*/ 968760 w 968400"/>
              <a:gd name="textAreaTop" fmla="*/ 0 h 968400"/>
              <a:gd name="textAreaBottom" fmla="*/ 968760 h 968400"/>
            </a:gdLst>
            <a:ahLst/>
            <a:rect l="textAreaLeft" t="textAreaTop" r="textAreaRight" b="textAreaBottom"/>
            <a:pathLst>
              <a:path w="968871" h="968871">
                <a:moveTo>
                  <a:pt x="968871" y="484436"/>
                </a:moveTo>
                <a:cubicBezTo>
                  <a:pt x="968871" y="751982"/>
                  <a:pt x="751982" y="968871"/>
                  <a:pt x="484436" y="968871"/>
                </a:cubicBezTo>
                <a:cubicBezTo>
                  <a:pt x="216889" y="968871"/>
                  <a:pt x="0" y="751982"/>
                  <a:pt x="0" y="484436"/>
                </a:cubicBezTo>
                <a:cubicBezTo>
                  <a:pt x="0" y="216889"/>
                  <a:pt x="216889" y="0"/>
                  <a:pt x="484436" y="0"/>
                </a:cubicBezTo>
                <a:cubicBezTo>
                  <a:pt x="751982" y="0"/>
                  <a:pt x="968871" y="216889"/>
                  <a:pt x="968871" y="484436"/>
                </a:cubicBezTo>
                <a:close/>
              </a:path>
            </a:pathLst>
          </a:custGeom>
          <a:noFill/>
          <a:ln cap="sq" w="45644">
            <a:solidFill>
              <a:srgbClr val="d4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8492760" y="1221840"/>
            <a:ext cx="853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(2,2)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8494200" y="6082920"/>
            <a:ext cx="961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(2,-2)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2802600" y="1221840"/>
            <a:ext cx="961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(-2,2)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2692440" y="6082920"/>
            <a:ext cx="1071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pc="-1" strike="noStrike">
                <a:solidFill>
                  <a:srgbClr val="5aa02c"/>
                </a:solidFill>
                <a:latin typeface="Calibri"/>
              </a:rPr>
              <a:t>(-2,-2)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7240680" y="2408760"/>
            <a:ext cx="757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808080"/>
                </a:solidFill>
                <a:latin typeface="Calibri"/>
              </a:rPr>
              <a:t>(1,1)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4126680" y="2405520"/>
            <a:ext cx="851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808080"/>
                </a:solidFill>
                <a:latin typeface="Calibri"/>
              </a:rPr>
              <a:t>(-1,1)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3992400" y="5080680"/>
            <a:ext cx="94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808080"/>
                </a:solidFill>
                <a:latin typeface="Calibri"/>
              </a:rPr>
              <a:t>(-1,-1)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7251480" y="5080680"/>
            <a:ext cx="851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808080"/>
                </a:solidFill>
                <a:latin typeface="Calibri"/>
              </a:rPr>
              <a:t>(1,-1)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9" name="Straight Arrow Connector 23"/>
          <p:cNvCxnSpPr/>
          <p:nvPr/>
        </p:nvCxnSpPr>
        <p:spPr>
          <a:xfrm flipV="1">
            <a:off x="6091200" y="3605040"/>
            <a:ext cx="295560" cy="384120"/>
          </a:xfrm>
          <a:prstGeom prst="straightConnector1">
            <a:avLst/>
          </a:prstGeom>
          <a:ln w="38100">
            <a:solidFill>
              <a:srgbClr val="c00000"/>
            </a:solidFill>
            <a:headEnd len="med" type="arrow" w="med"/>
            <a:tailEnd len="med" type="arrow" w="med"/>
          </a:ln>
        </p:spPr>
      </p:cxnSp>
      <p:sp>
        <p:nvSpPr>
          <p:cNvPr id="180" name="Rectangle: Rounded Corners 28"/>
          <p:cNvSpPr/>
          <p:nvPr/>
        </p:nvSpPr>
        <p:spPr>
          <a:xfrm>
            <a:off x="6267240" y="3750840"/>
            <a:ext cx="1322640" cy="457560"/>
          </a:xfrm>
          <a:prstGeom prst="roundRect">
            <a:avLst>
              <a:gd name="adj" fmla="val 5000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: Rounded Corners 29"/>
          <p:cNvSpPr/>
          <p:nvPr/>
        </p:nvSpPr>
        <p:spPr>
          <a:xfrm>
            <a:off x="6816960" y="2023920"/>
            <a:ext cx="317160" cy="457560"/>
          </a:xfrm>
          <a:prstGeom prst="roundRect">
            <a:avLst>
              <a:gd name="adj" fmla="val 50000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2" name="Straight Arrow Connector 30"/>
          <p:cNvCxnSpPr/>
          <p:nvPr/>
        </p:nvCxnSpPr>
        <p:spPr>
          <a:xfrm>
            <a:off x="6534000" y="1981080"/>
            <a:ext cx="712800" cy="848160"/>
          </a:xfrm>
          <a:prstGeom prst="straightConnector1">
            <a:avLst/>
          </a:prstGeom>
          <a:ln w="38100">
            <a:solidFill>
              <a:srgbClr val="5b9bd5"/>
            </a:solidFill>
            <a:headEnd len="med" type="arrow" w="med"/>
            <a:tailEnd len="med" type="arrow" w="med"/>
          </a:ln>
        </p:spPr>
      </p:cxn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64" dur="indefinite" restart="never" nodeType="tmRoot">
          <p:childTnLst>
            <p:seq>
              <p:cTn id="165" dur="indefinite" nodeType="mainSeq"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spheres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4" name="Content Placeholder 6" descr="A green cube with black background&#10;&#10;Description automatically generated"/>
          <p:cNvPicPr/>
          <p:nvPr/>
        </p:nvPicPr>
        <p:blipFill>
          <a:blip r:embed="rId1"/>
          <a:stretch/>
        </p:blipFill>
        <p:spPr>
          <a:xfrm>
            <a:off x="3578400" y="1144440"/>
            <a:ext cx="5034960" cy="5713200"/>
          </a:xfrm>
          <a:prstGeom prst="rect">
            <a:avLst/>
          </a:prstGeom>
          <a:ln w="0">
            <a:noFill/>
          </a:ln>
        </p:spPr>
      </p:pic>
      <p:sp>
        <p:nvSpPr>
          <p:cNvPr id="185" name="TextBox 7"/>
          <p:cNvSpPr/>
          <p:nvPr/>
        </p:nvSpPr>
        <p:spPr>
          <a:xfrm>
            <a:off x="8021160" y="1019160"/>
            <a:ext cx="157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5aa02c"/>
                </a:solidFill>
                <a:latin typeface="Calibri"/>
              </a:rPr>
              <a:t>4x4x4 cube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Freeform: Shape 15"/>
          <p:cNvSpPr/>
          <p:nvPr/>
        </p:nvSpPr>
        <p:spPr>
          <a:xfrm>
            <a:off x="6885360" y="1247760"/>
            <a:ext cx="1096200" cy="461160"/>
          </a:xfrm>
          <a:custGeom>
            <a:avLst/>
            <a:gdLst>
              <a:gd name="textAreaLeft" fmla="*/ 0 w 1096200"/>
              <a:gd name="textAreaRight" fmla="*/ 1096560 w 1096200"/>
              <a:gd name="textAreaTop" fmla="*/ 0 h 461160"/>
              <a:gd name="textAreaBottom" fmla="*/ 461520 h 46116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5aa02c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5" dur="indefinite" restart="never" nodeType="tmRoot">
          <p:childTnLst>
            <p:seq>
              <p:cTn id="176" dur="indefinite" nodeType="mainSeq"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spheres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8" name="Content Placeholder 5" descr="A group of spheres in a cube&#10;&#10;Description automatically generated"/>
          <p:cNvPicPr/>
          <p:nvPr/>
        </p:nvPicPr>
        <p:blipFill>
          <a:blip r:embed="rId1"/>
          <a:stretch/>
        </p:blipFill>
        <p:spPr>
          <a:xfrm>
            <a:off x="3578400" y="1144440"/>
            <a:ext cx="5034960" cy="5713200"/>
          </a:xfrm>
          <a:prstGeom prst="rect">
            <a:avLst/>
          </a:prstGeom>
          <a:ln w="0">
            <a:noFill/>
          </a:ln>
        </p:spPr>
      </p:pic>
      <p:sp>
        <p:nvSpPr>
          <p:cNvPr id="189" name="TextBox 7"/>
          <p:cNvSpPr/>
          <p:nvPr/>
        </p:nvSpPr>
        <p:spPr>
          <a:xfrm>
            <a:off x="8021160" y="1019160"/>
            <a:ext cx="157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5aa02c"/>
                </a:solidFill>
                <a:latin typeface="Calibri"/>
              </a:rPr>
              <a:t>4x4x4 cube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Freeform: Shape 10"/>
          <p:cNvSpPr/>
          <p:nvPr/>
        </p:nvSpPr>
        <p:spPr>
          <a:xfrm flipH="1">
            <a:off x="3391200" y="2438280"/>
            <a:ext cx="1198800" cy="560520"/>
          </a:xfrm>
          <a:custGeom>
            <a:avLst/>
            <a:gdLst>
              <a:gd name="textAreaLeft" fmla="*/ 360 w 1198800"/>
              <a:gd name="textAreaRight" fmla="*/ 1199520 w 1198800"/>
              <a:gd name="textAreaTop" fmla="*/ 0 h 560520"/>
              <a:gd name="textAreaBottom" fmla="*/ 560880 h 56052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37abc8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11"/>
          <p:cNvSpPr/>
          <p:nvPr/>
        </p:nvSpPr>
        <p:spPr>
          <a:xfrm>
            <a:off x="2219040" y="2140920"/>
            <a:ext cx="1353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37abc8"/>
                </a:solidFill>
                <a:latin typeface="Calibri"/>
              </a:rPr>
              <a:t>radius 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Freeform: Shape 12"/>
          <p:cNvSpPr/>
          <p:nvPr/>
        </p:nvSpPr>
        <p:spPr>
          <a:xfrm>
            <a:off x="6885360" y="1247760"/>
            <a:ext cx="1096200" cy="461160"/>
          </a:xfrm>
          <a:custGeom>
            <a:avLst/>
            <a:gdLst>
              <a:gd name="textAreaLeft" fmla="*/ 0 w 1096200"/>
              <a:gd name="textAreaRight" fmla="*/ 1096560 w 1096200"/>
              <a:gd name="textAreaTop" fmla="*/ 0 h 461160"/>
              <a:gd name="textAreaBottom" fmla="*/ 461520 h 46116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5aa02c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89" dur="indefinite" restart="never" nodeType="tmRoot">
          <p:childTnLst>
            <p:seq>
              <p:cTn id="190" dur="indefinite" nodeType="mainSeq">
                <p:childTnLst>
                  <p:par>
                    <p:cTn id="191" fill="hold">
                      <p:stCondLst>
                        <p:cond delay="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spheres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94" name="Content Placeholder 5" descr="A group of spheres in a square&#10;&#10;Description automatically generated"/>
          <p:cNvPicPr/>
          <p:nvPr/>
        </p:nvPicPr>
        <p:blipFill>
          <a:blip r:embed="rId1"/>
          <a:stretch/>
        </p:blipFill>
        <p:spPr>
          <a:xfrm>
            <a:off x="3578400" y="1144440"/>
            <a:ext cx="5034960" cy="5713200"/>
          </a:xfrm>
          <a:prstGeom prst="rect">
            <a:avLst/>
          </a:prstGeom>
          <a:ln w="0">
            <a:noFill/>
          </a:ln>
        </p:spPr>
      </p:pic>
      <p:sp>
        <p:nvSpPr>
          <p:cNvPr id="195" name="TextBox 7"/>
          <p:cNvSpPr/>
          <p:nvPr/>
        </p:nvSpPr>
        <p:spPr>
          <a:xfrm>
            <a:off x="8021160" y="1019160"/>
            <a:ext cx="157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5aa02c"/>
                </a:solidFill>
                <a:latin typeface="Calibri"/>
              </a:rPr>
              <a:t>4x4x4 cube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Freeform: Shape 17"/>
          <p:cNvSpPr/>
          <p:nvPr/>
        </p:nvSpPr>
        <p:spPr>
          <a:xfrm flipH="1">
            <a:off x="3391200" y="2438280"/>
            <a:ext cx="1198800" cy="560520"/>
          </a:xfrm>
          <a:custGeom>
            <a:avLst/>
            <a:gdLst>
              <a:gd name="textAreaLeft" fmla="*/ 360 w 1198800"/>
              <a:gd name="textAreaRight" fmla="*/ 1199520 w 1198800"/>
              <a:gd name="textAreaTop" fmla="*/ 0 h 560520"/>
              <a:gd name="textAreaBottom" fmla="*/ 560880 h 56052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37abc8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18"/>
          <p:cNvSpPr/>
          <p:nvPr/>
        </p:nvSpPr>
        <p:spPr>
          <a:xfrm>
            <a:off x="2219040" y="2140920"/>
            <a:ext cx="1353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37abc8"/>
                </a:solidFill>
                <a:latin typeface="Calibri"/>
              </a:rPr>
              <a:t>radius 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Freeform: Shape 19"/>
          <p:cNvSpPr/>
          <p:nvPr/>
        </p:nvSpPr>
        <p:spPr>
          <a:xfrm>
            <a:off x="6885360" y="1247760"/>
            <a:ext cx="1096200" cy="461160"/>
          </a:xfrm>
          <a:custGeom>
            <a:avLst/>
            <a:gdLst>
              <a:gd name="textAreaLeft" fmla="*/ 0 w 1096200"/>
              <a:gd name="textAreaRight" fmla="*/ 1096560 w 1096200"/>
              <a:gd name="textAreaTop" fmla="*/ 0 h 461160"/>
              <a:gd name="textAreaBottom" fmla="*/ 461520 h 46116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5aa02c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spheres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0" name="Content Placeholder 4" descr="A group of spheres with a red center&#10;&#10;Description automatically generated"/>
          <p:cNvPicPr/>
          <p:nvPr/>
        </p:nvPicPr>
        <p:blipFill>
          <a:blip r:embed="rId1"/>
          <a:stretch/>
        </p:blipFill>
        <p:spPr>
          <a:xfrm>
            <a:off x="3578400" y="1144440"/>
            <a:ext cx="5034960" cy="5713200"/>
          </a:xfrm>
          <a:prstGeom prst="rect">
            <a:avLst/>
          </a:prstGeom>
          <a:ln w="0">
            <a:noFill/>
          </a:ln>
        </p:spPr>
      </p:pic>
      <p:sp>
        <p:nvSpPr>
          <p:cNvPr id="201" name="TextBox 5"/>
          <p:cNvSpPr/>
          <p:nvPr/>
        </p:nvSpPr>
        <p:spPr>
          <a:xfrm>
            <a:off x="8021160" y="1019160"/>
            <a:ext cx="157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5aa02c"/>
                </a:solidFill>
                <a:latin typeface="Calibri"/>
              </a:rPr>
              <a:t>4x4x4 cube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13"/>
          <p:cNvSpPr/>
          <p:nvPr/>
        </p:nvSpPr>
        <p:spPr>
          <a:xfrm>
            <a:off x="8810280" y="4887360"/>
            <a:ext cx="1973520" cy="4960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Freeform: Shape 15"/>
          <p:cNvSpPr/>
          <p:nvPr/>
        </p:nvSpPr>
        <p:spPr>
          <a:xfrm flipH="1">
            <a:off x="3391200" y="2438280"/>
            <a:ext cx="1198800" cy="560520"/>
          </a:xfrm>
          <a:custGeom>
            <a:avLst/>
            <a:gdLst>
              <a:gd name="textAreaLeft" fmla="*/ 360 w 1198800"/>
              <a:gd name="textAreaRight" fmla="*/ 1199520 w 1198800"/>
              <a:gd name="textAreaTop" fmla="*/ 0 h 560520"/>
              <a:gd name="textAreaBottom" fmla="*/ 560880 h 56052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37abc8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16"/>
          <p:cNvSpPr/>
          <p:nvPr/>
        </p:nvSpPr>
        <p:spPr>
          <a:xfrm>
            <a:off x="2219040" y="2140920"/>
            <a:ext cx="1353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37abc8"/>
                </a:solidFill>
                <a:latin typeface="Calibri"/>
              </a:rPr>
              <a:t>radius 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Freeform: Shape 17"/>
          <p:cNvSpPr/>
          <p:nvPr/>
        </p:nvSpPr>
        <p:spPr>
          <a:xfrm>
            <a:off x="6885360" y="1247760"/>
            <a:ext cx="1096200" cy="461160"/>
          </a:xfrm>
          <a:custGeom>
            <a:avLst/>
            <a:gdLst>
              <a:gd name="textAreaLeft" fmla="*/ 0 w 1096200"/>
              <a:gd name="textAreaRight" fmla="*/ 1096560 w 1096200"/>
              <a:gd name="textAreaTop" fmla="*/ 0 h 461160"/>
              <a:gd name="textAreaBottom" fmla="*/ 461520 h 46116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5aa02c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Freeform: Shape 25"/>
          <p:cNvSpPr/>
          <p:nvPr/>
        </p:nvSpPr>
        <p:spPr>
          <a:xfrm flipV="1">
            <a:off x="6501240" y="4462200"/>
            <a:ext cx="2298960" cy="712800"/>
          </a:xfrm>
          <a:custGeom>
            <a:avLst/>
            <a:gdLst>
              <a:gd name="textAreaLeft" fmla="*/ 0 w 2298960"/>
              <a:gd name="textAreaRight" fmla="*/ 2299320 w 2298960"/>
              <a:gd name="textAreaTop" fmla="*/ 360 h 712800"/>
              <a:gd name="textAreaBottom" fmla="*/ 713520 h 71280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c00000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spheres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8" name="Content Placeholder 5" descr="A group of spheres in a cube&#10;&#10;Description automatically generated"/>
          <p:cNvPicPr/>
          <p:nvPr/>
        </p:nvPicPr>
        <p:blipFill>
          <a:blip r:embed="rId1"/>
          <a:stretch/>
        </p:blipFill>
        <p:spPr>
          <a:xfrm>
            <a:off x="3578400" y="1144440"/>
            <a:ext cx="5034960" cy="5713200"/>
          </a:xfrm>
          <a:prstGeom prst="rect">
            <a:avLst/>
          </a:prstGeom>
          <a:ln w="0">
            <a:noFill/>
          </a:ln>
        </p:spPr>
      </p:pic>
      <p:sp>
        <p:nvSpPr>
          <p:cNvPr id="209" name="TextBox 7"/>
          <p:cNvSpPr/>
          <p:nvPr/>
        </p:nvSpPr>
        <p:spPr>
          <a:xfrm>
            <a:off x="8021160" y="1019160"/>
            <a:ext cx="157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5aa02c"/>
                </a:solidFill>
                <a:latin typeface="Calibri"/>
              </a:rPr>
              <a:t>4x4x4 cube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Freeform: Shape 17"/>
          <p:cNvSpPr/>
          <p:nvPr/>
        </p:nvSpPr>
        <p:spPr>
          <a:xfrm flipH="1">
            <a:off x="3391200" y="2438280"/>
            <a:ext cx="1198800" cy="560520"/>
          </a:xfrm>
          <a:custGeom>
            <a:avLst/>
            <a:gdLst>
              <a:gd name="textAreaLeft" fmla="*/ 360 w 1198800"/>
              <a:gd name="textAreaRight" fmla="*/ 1199520 w 1198800"/>
              <a:gd name="textAreaTop" fmla="*/ 0 h 560520"/>
              <a:gd name="textAreaBottom" fmla="*/ 560880 h 56052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37abc8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18"/>
          <p:cNvSpPr/>
          <p:nvPr/>
        </p:nvSpPr>
        <p:spPr>
          <a:xfrm>
            <a:off x="2219040" y="2140920"/>
            <a:ext cx="1353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rgbClr val="37abc8"/>
                </a:solidFill>
                <a:latin typeface="Calibri"/>
              </a:rPr>
              <a:t>radius 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Freeform: Shape 19"/>
          <p:cNvSpPr/>
          <p:nvPr/>
        </p:nvSpPr>
        <p:spPr>
          <a:xfrm>
            <a:off x="6885360" y="1247760"/>
            <a:ext cx="1096200" cy="461160"/>
          </a:xfrm>
          <a:custGeom>
            <a:avLst/>
            <a:gdLst>
              <a:gd name="textAreaLeft" fmla="*/ 0 w 1096200"/>
              <a:gd name="textAreaRight" fmla="*/ 1096560 w 1096200"/>
              <a:gd name="textAreaTop" fmla="*/ 0 h 461160"/>
              <a:gd name="textAreaBottom" fmla="*/ 461520 h 46116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5aa02c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20"/>
          <p:cNvSpPr/>
          <p:nvPr/>
        </p:nvSpPr>
        <p:spPr>
          <a:xfrm>
            <a:off x="8810280" y="4887360"/>
            <a:ext cx="1973520" cy="4960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Freeform: Shape 21"/>
          <p:cNvSpPr/>
          <p:nvPr/>
        </p:nvSpPr>
        <p:spPr>
          <a:xfrm flipV="1">
            <a:off x="6501240" y="4462200"/>
            <a:ext cx="2298960" cy="712800"/>
          </a:xfrm>
          <a:custGeom>
            <a:avLst/>
            <a:gdLst>
              <a:gd name="textAreaLeft" fmla="*/ 0 w 2298960"/>
              <a:gd name="textAreaRight" fmla="*/ 2299320 w 2298960"/>
              <a:gd name="textAreaTop" fmla="*/ 360 h 712800"/>
              <a:gd name="textAreaBottom" fmla="*/ 713520 h 712800"/>
            </a:gdLst>
            <a:ahLst/>
            <a:rect l="textAreaLeft" t="textAreaTop" r="textAreaRight" b="textAreaBottom"/>
            <a:pathLst>
              <a:path w="1371600" h="790575">
                <a:moveTo>
                  <a:pt x="1371600" y="0"/>
                </a:moveTo>
                <a:cubicBezTo>
                  <a:pt x="1114425" y="48419"/>
                  <a:pt x="857250" y="96838"/>
                  <a:pt x="628650" y="228600"/>
                </a:cubicBezTo>
                <a:cubicBezTo>
                  <a:pt x="400050" y="360363"/>
                  <a:pt x="200025" y="575469"/>
                  <a:pt x="0" y="790575"/>
                </a:cubicBezTo>
              </a:path>
            </a:pathLst>
          </a:custGeom>
          <a:noFill/>
          <a:ln w="57150">
            <a:solidFill>
              <a:srgbClr val="c00000"/>
            </a:solidFill>
            <a:prstDash val="sysDot"/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ffffff">
                    <a:alpha val="1000"/>
                  </a:srgbClr>
                </a:solidFill>
                <a:latin typeface="Calibri Light"/>
              </a:rPr>
              <a:t> 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325800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7" name="TextBox 4"/>
          <p:cNvSpPr/>
          <p:nvPr/>
        </p:nvSpPr>
        <p:spPr>
          <a:xfrm>
            <a:off x="9063000" y="1746360"/>
            <a:ext cx="2014200" cy="5047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838080" y="5218920"/>
            <a:ext cx="10239120" cy="12243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ectangle 10"/>
          <p:cNvSpPr/>
          <p:nvPr/>
        </p:nvSpPr>
        <p:spPr>
          <a:xfrm>
            <a:off x="10319400" y="5901480"/>
            <a:ext cx="697320" cy="563400"/>
          </a:xfrm>
          <a:prstGeom prst="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11"/>
          <p:cNvSpPr/>
          <p:nvPr/>
        </p:nvSpPr>
        <p:spPr>
          <a:xfrm>
            <a:off x="10269360" y="3454920"/>
            <a:ext cx="947520" cy="4611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9" dur="indefinite" restart="never" nodeType="tmRoot">
          <p:childTnLst>
            <p:seq>
              <p:cTn id="210" dur="indefinite" nodeType="mainSeq">
                <p:childTnLst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5" dur="500"/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0" dur="500"/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5" dur="500"/>
                                        <p:tgtEl>
                                          <p:spTgt spid="2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0" dur="500"/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5" dur="500"/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5" dur="500"/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500"/>
                            </p:stCondLst>
                            <p:childTnLst>
                              <p:par>
                                <p:cTn id="257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4 circles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2" name="Freeform: Shape 10"/>
          <p:cNvSpPr/>
          <p:nvPr/>
        </p:nvSpPr>
        <p:spPr>
          <a:xfrm>
            <a:off x="6100560" y="1172520"/>
            <a:ext cx="56880" cy="5672880"/>
          </a:xfrm>
          <a:custGeom>
            <a:avLst/>
            <a:gdLst>
              <a:gd name="textAreaLeft" fmla="*/ 0 w 56880"/>
              <a:gd name="textAreaRight" fmla="*/ 57240 w 56880"/>
              <a:gd name="textAreaTop" fmla="*/ 0 h 5672880"/>
              <a:gd name="textAreaBottom" fmla="*/ 5673240 h 5672880"/>
            </a:gdLst>
            <a:ahLst/>
            <a:rect l="textAreaLeft" t="textAreaTop" r="textAreaRight" b="textAreaBottom"/>
            <a:pathLst>
              <a:path w="57134" h="5673416">
                <a:moveTo>
                  <a:pt x="0" y="5673417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3" name="Freeform: Shape 11"/>
          <p:cNvSpPr/>
          <p:nvPr/>
        </p:nvSpPr>
        <p:spPr>
          <a:xfrm>
            <a:off x="3243960" y="3989160"/>
            <a:ext cx="5672880" cy="56880"/>
          </a:xfrm>
          <a:custGeom>
            <a:avLst/>
            <a:gdLst>
              <a:gd name="textAreaLeft" fmla="*/ 0 w 5672880"/>
              <a:gd name="textAreaRight" fmla="*/ 5673240 w 5672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73416" h="57134">
                <a:moveTo>
                  <a:pt x="0" y="0"/>
                </a:moveTo>
                <a:lnTo>
                  <a:pt x="5673417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Freeform: Shape 12"/>
          <p:cNvSpPr/>
          <p:nvPr/>
        </p:nvSpPr>
        <p:spPr>
          <a:xfrm>
            <a:off x="719856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9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9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Freeform: Shape 13"/>
          <p:cNvSpPr/>
          <p:nvPr/>
        </p:nvSpPr>
        <p:spPr>
          <a:xfrm>
            <a:off x="488448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9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9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" name="Freeform: Shape 14"/>
          <p:cNvSpPr/>
          <p:nvPr/>
        </p:nvSpPr>
        <p:spPr>
          <a:xfrm>
            <a:off x="488448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7" name="Freeform: Shape 15"/>
          <p:cNvSpPr/>
          <p:nvPr/>
        </p:nvSpPr>
        <p:spPr>
          <a:xfrm>
            <a:off x="719856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Freeform: Shape 16"/>
          <p:cNvSpPr/>
          <p:nvPr/>
        </p:nvSpPr>
        <p:spPr>
          <a:xfrm>
            <a:off x="3772440" y="1661040"/>
            <a:ext cx="4656240" cy="4656240"/>
          </a:xfrm>
          <a:custGeom>
            <a:avLst/>
            <a:gdLst>
              <a:gd name="textAreaLeft" fmla="*/ 0 w 4656240"/>
              <a:gd name="textAreaRight" fmla="*/ 4656600 w 4656240"/>
              <a:gd name="textAreaTop" fmla="*/ 0 h 4656240"/>
              <a:gd name="textAreaBottom" fmla="*/ 4656600 h 4656240"/>
            </a:gdLst>
            <a:ahLst/>
            <a:rect l="textAreaLeft" t="textAreaTop" r="textAreaRight" b="textAreaBottom"/>
            <a:pathLst>
              <a:path w="4656430" h="4656430">
                <a:moveTo>
                  <a:pt x="0" y="0"/>
                </a:moveTo>
                <a:lnTo>
                  <a:pt x="4656431" y="0"/>
                </a:lnTo>
                <a:lnTo>
                  <a:pt x="4656431" y="4656431"/>
                </a:lnTo>
                <a:lnTo>
                  <a:pt x="0" y="4656431"/>
                </a:lnTo>
                <a:close/>
              </a:path>
            </a:pathLst>
          </a:custGeom>
          <a:noFill/>
          <a:ln cap="rnd" w="57055">
            <a:solidFill>
              <a:srgbClr val="5a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9" name="Freeform: Shape 17"/>
          <p:cNvSpPr/>
          <p:nvPr/>
        </p:nvSpPr>
        <p:spPr>
          <a:xfrm>
            <a:off x="6137640" y="171216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0"/>
                  <a:pt x="1120080" y="2240160"/>
                </a:cubicBezTo>
                <a:cubicBezTo>
                  <a:pt x="501477" y="2240160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Freeform: Shape 18"/>
          <p:cNvSpPr/>
          <p:nvPr/>
        </p:nvSpPr>
        <p:spPr>
          <a:xfrm>
            <a:off x="3823560" y="171216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0"/>
                  <a:pt x="1120080" y="2240160"/>
                </a:cubicBezTo>
                <a:cubicBezTo>
                  <a:pt x="501477" y="2240160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1" name="Freeform: Shape 19"/>
          <p:cNvSpPr/>
          <p:nvPr/>
        </p:nvSpPr>
        <p:spPr>
          <a:xfrm>
            <a:off x="3823560" y="402588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1"/>
                  <a:pt x="1120080" y="2240161"/>
                </a:cubicBezTo>
                <a:cubicBezTo>
                  <a:pt x="501477" y="2240161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Freeform: Shape 20"/>
          <p:cNvSpPr/>
          <p:nvPr/>
        </p:nvSpPr>
        <p:spPr>
          <a:xfrm>
            <a:off x="6137640" y="4025880"/>
            <a:ext cx="2239920" cy="2239920"/>
          </a:xfrm>
          <a:custGeom>
            <a:avLst/>
            <a:gdLst>
              <a:gd name="textAreaLeft" fmla="*/ 0 w 2239920"/>
              <a:gd name="textAreaRight" fmla="*/ 2240280 w 2239920"/>
              <a:gd name="textAreaTop" fmla="*/ 0 h 2239920"/>
              <a:gd name="textAreaBottom" fmla="*/ 2240280 h 2239920"/>
            </a:gdLst>
            <a:ahLst/>
            <a:rect l="textAreaLeft" t="textAreaTop" r="textAreaRight" b="textAreaBottom"/>
            <a:pathLst>
              <a:path w="2240160" h="2240160">
                <a:moveTo>
                  <a:pt x="2240160" y="1120080"/>
                </a:moveTo>
                <a:cubicBezTo>
                  <a:pt x="2240160" y="1738683"/>
                  <a:pt x="1738683" y="2240161"/>
                  <a:pt x="1120080" y="2240161"/>
                </a:cubicBezTo>
                <a:cubicBezTo>
                  <a:pt x="501477" y="2240161"/>
                  <a:pt x="0" y="1738683"/>
                  <a:pt x="0" y="1120080"/>
                </a:cubicBezTo>
                <a:cubicBezTo>
                  <a:pt x="0" y="501477"/>
                  <a:pt x="501477" y="0"/>
                  <a:pt x="1120080" y="0"/>
                </a:cubicBezTo>
                <a:cubicBezTo>
                  <a:pt x="1738683" y="0"/>
                  <a:pt x="2240160" y="501477"/>
                  <a:pt x="2240160" y="1120080"/>
                </a:cubicBezTo>
                <a:close/>
              </a:path>
            </a:pathLst>
          </a:custGeom>
          <a:noFill/>
          <a:ln cap="sq" w="45138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Freeform: Shape 21"/>
          <p:cNvSpPr/>
          <p:nvPr/>
        </p:nvSpPr>
        <p:spPr>
          <a:xfrm>
            <a:off x="5616360" y="3504600"/>
            <a:ext cx="968400" cy="968400"/>
          </a:xfrm>
          <a:custGeom>
            <a:avLst/>
            <a:gdLst>
              <a:gd name="textAreaLeft" fmla="*/ 0 w 968400"/>
              <a:gd name="textAreaRight" fmla="*/ 968760 w 968400"/>
              <a:gd name="textAreaTop" fmla="*/ 0 h 968400"/>
              <a:gd name="textAreaBottom" fmla="*/ 968760 h 968400"/>
            </a:gdLst>
            <a:ahLst/>
            <a:rect l="textAreaLeft" t="textAreaTop" r="textAreaRight" b="textAreaBottom"/>
            <a:pathLst>
              <a:path w="968871" h="968871">
                <a:moveTo>
                  <a:pt x="968871" y="484436"/>
                </a:moveTo>
                <a:cubicBezTo>
                  <a:pt x="968871" y="751982"/>
                  <a:pt x="751982" y="968871"/>
                  <a:pt x="484436" y="968871"/>
                </a:cubicBezTo>
                <a:cubicBezTo>
                  <a:pt x="216889" y="968871"/>
                  <a:pt x="0" y="751982"/>
                  <a:pt x="0" y="484436"/>
                </a:cubicBezTo>
                <a:cubicBezTo>
                  <a:pt x="0" y="216889"/>
                  <a:pt x="216889" y="0"/>
                  <a:pt x="484436" y="0"/>
                </a:cubicBezTo>
                <a:cubicBezTo>
                  <a:pt x="751982" y="0"/>
                  <a:pt x="968871" y="216889"/>
                  <a:pt x="968871" y="484436"/>
                </a:cubicBezTo>
                <a:close/>
              </a:path>
            </a:pathLst>
          </a:custGeom>
          <a:noFill/>
          <a:ln cap="sq" w="45644">
            <a:solidFill>
              <a:srgbClr val="d4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4 circles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5" name="Freeform: Shape 6"/>
          <p:cNvSpPr/>
          <p:nvPr/>
        </p:nvSpPr>
        <p:spPr>
          <a:xfrm>
            <a:off x="6100560" y="1172520"/>
            <a:ext cx="56880" cy="5672880"/>
          </a:xfrm>
          <a:custGeom>
            <a:avLst/>
            <a:gdLst>
              <a:gd name="textAreaLeft" fmla="*/ 0 w 56880"/>
              <a:gd name="textAreaRight" fmla="*/ 57240 w 56880"/>
              <a:gd name="textAreaTop" fmla="*/ 0 h 5672880"/>
              <a:gd name="textAreaBottom" fmla="*/ 5673240 h 5672880"/>
            </a:gdLst>
            <a:ahLst/>
            <a:rect l="textAreaLeft" t="textAreaTop" r="textAreaRight" b="textAreaBottom"/>
            <a:pathLst>
              <a:path w="57134" h="5673416">
                <a:moveTo>
                  <a:pt x="0" y="5673417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Freeform: Shape 7"/>
          <p:cNvSpPr/>
          <p:nvPr/>
        </p:nvSpPr>
        <p:spPr>
          <a:xfrm>
            <a:off x="3243960" y="3989160"/>
            <a:ext cx="5672880" cy="56880"/>
          </a:xfrm>
          <a:custGeom>
            <a:avLst/>
            <a:gdLst>
              <a:gd name="textAreaLeft" fmla="*/ 0 w 5672880"/>
              <a:gd name="textAreaRight" fmla="*/ 5673240 w 5672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73416" h="57134">
                <a:moveTo>
                  <a:pt x="0" y="0"/>
                </a:moveTo>
                <a:lnTo>
                  <a:pt x="5673417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7" name="Freeform: Shape 8"/>
          <p:cNvSpPr/>
          <p:nvPr/>
        </p:nvSpPr>
        <p:spPr>
          <a:xfrm>
            <a:off x="719856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Freeform: Shape 9"/>
          <p:cNvSpPr/>
          <p:nvPr/>
        </p:nvSpPr>
        <p:spPr>
          <a:xfrm>
            <a:off x="488448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9" name="Freeform: Shape 10"/>
          <p:cNvSpPr/>
          <p:nvPr/>
        </p:nvSpPr>
        <p:spPr>
          <a:xfrm>
            <a:off x="488448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0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Freeform: Shape 11"/>
          <p:cNvSpPr/>
          <p:nvPr/>
        </p:nvSpPr>
        <p:spPr>
          <a:xfrm>
            <a:off x="719856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0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1" name="Freeform: Shape 12"/>
          <p:cNvSpPr/>
          <p:nvPr/>
        </p:nvSpPr>
        <p:spPr>
          <a:xfrm>
            <a:off x="3772440" y="1661040"/>
            <a:ext cx="4656240" cy="4656240"/>
          </a:xfrm>
          <a:custGeom>
            <a:avLst/>
            <a:gdLst>
              <a:gd name="textAreaLeft" fmla="*/ 0 w 4656240"/>
              <a:gd name="textAreaRight" fmla="*/ 4656600 w 4656240"/>
              <a:gd name="textAreaTop" fmla="*/ 0 h 4656240"/>
              <a:gd name="textAreaBottom" fmla="*/ 4656600 h 4656240"/>
            </a:gdLst>
            <a:ahLst/>
            <a:rect l="textAreaLeft" t="textAreaTop" r="textAreaRight" b="textAreaBottom"/>
            <a:pathLst>
              <a:path w="4656430" h="4656430">
                <a:moveTo>
                  <a:pt x="0" y="0"/>
                </a:moveTo>
                <a:lnTo>
                  <a:pt x="4656431" y="0"/>
                </a:lnTo>
                <a:lnTo>
                  <a:pt x="4656431" y="4656431"/>
                </a:lnTo>
                <a:lnTo>
                  <a:pt x="0" y="4656431"/>
                </a:lnTo>
                <a:close/>
              </a:path>
            </a:pathLst>
          </a:custGeom>
          <a:noFill/>
          <a:ln cap="rnd" w="57055">
            <a:solidFill>
              <a:srgbClr val="5a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Freeform: Shape 13"/>
          <p:cNvSpPr/>
          <p:nvPr/>
        </p:nvSpPr>
        <p:spPr>
          <a:xfrm>
            <a:off x="6240960" y="181584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946" h="2032946">
                <a:moveTo>
                  <a:pt x="2032946" y="1016473"/>
                </a:moveTo>
                <a:cubicBezTo>
                  <a:pt x="2032946" y="1577856"/>
                  <a:pt x="1577856" y="2032946"/>
                  <a:pt x="1016473" y="2032946"/>
                </a:cubicBezTo>
                <a:cubicBezTo>
                  <a:pt x="455090" y="2032946"/>
                  <a:pt x="0" y="1577856"/>
                  <a:pt x="0" y="1016473"/>
                </a:cubicBezTo>
                <a:cubicBezTo>
                  <a:pt x="0" y="455090"/>
                  <a:pt x="455090" y="0"/>
                  <a:pt x="1016473" y="0"/>
                </a:cubicBezTo>
                <a:cubicBezTo>
                  <a:pt x="1577856" y="0"/>
                  <a:pt x="2032946" y="455090"/>
                  <a:pt x="2032946" y="1016473"/>
                </a:cubicBezTo>
                <a:close/>
              </a:path>
            </a:pathLst>
          </a:custGeom>
          <a:noFill/>
          <a:ln cap="sq" w="40962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3" name="Freeform: Shape 14"/>
          <p:cNvSpPr/>
          <p:nvPr/>
        </p:nvSpPr>
        <p:spPr>
          <a:xfrm>
            <a:off x="3927240" y="181584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946" h="2032946">
                <a:moveTo>
                  <a:pt x="2032946" y="1016473"/>
                </a:moveTo>
                <a:cubicBezTo>
                  <a:pt x="2032946" y="1577856"/>
                  <a:pt x="1577856" y="2032946"/>
                  <a:pt x="1016473" y="2032946"/>
                </a:cubicBezTo>
                <a:cubicBezTo>
                  <a:pt x="455090" y="2032946"/>
                  <a:pt x="0" y="1577856"/>
                  <a:pt x="0" y="1016473"/>
                </a:cubicBezTo>
                <a:cubicBezTo>
                  <a:pt x="0" y="455090"/>
                  <a:pt x="455090" y="0"/>
                  <a:pt x="1016473" y="0"/>
                </a:cubicBezTo>
                <a:cubicBezTo>
                  <a:pt x="1577856" y="0"/>
                  <a:pt x="2032946" y="455090"/>
                  <a:pt x="2032946" y="1016473"/>
                </a:cubicBezTo>
                <a:close/>
              </a:path>
            </a:pathLst>
          </a:custGeom>
          <a:noFill/>
          <a:ln cap="sq" w="40962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4" name="Freeform: Shape 15"/>
          <p:cNvSpPr/>
          <p:nvPr/>
        </p:nvSpPr>
        <p:spPr>
          <a:xfrm>
            <a:off x="3927240" y="412956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946" h="2032946">
                <a:moveTo>
                  <a:pt x="2032946" y="1016473"/>
                </a:moveTo>
                <a:cubicBezTo>
                  <a:pt x="2032946" y="1577856"/>
                  <a:pt x="1577856" y="2032946"/>
                  <a:pt x="1016473" y="2032946"/>
                </a:cubicBezTo>
                <a:cubicBezTo>
                  <a:pt x="455090" y="2032946"/>
                  <a:pt x="0" y="1577856"/>
                  <a:pt x="0" y="1016473"/>
                </a:cubicBezTo>
                <a:cubicBezTo>
                  <a:pt x="0" y="455091"/>
                  <a:pt x="455090" y="0"/>
                  <a:pt x="1016473" y="0"/>
                </a:cubicBezTo>
                <a:cubicBezTo>
                  <a:pt x="1577856" y="0"/>
                  <a:pt x="2032946" y="455091"/>
                  <a:pt x="2032946" y="1016473"/>
                </a:cubicBezTo>
                <a:close/>
              </a:path>
            </a:pathLst>
          </a:custGeom>
          <a:noFill/>
          <a:ln cap="sq" w="40962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5" name="Freeform: Shape 16"/>
          <p:cNvSpPr/>
          <p:nvPr/>
        </p:nvSpPr>
        <p:spPr>
          <a:xfrm>
            <a:off x="6240960" y="412956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946" h="2032946">
                <a:moveTo>
                  <a:pt x="2032946" y="1016473"/>
                </a:moveTo>
                <a:cubicBezTo>
                  <a:pt x="2032946" y="1577856"/>
                  <a:pt x="1577856" y="2032946"/>
                  <a:pt x="1016473" y="2032946"/>
                </a:cubicBezTo>
                <a:cubicBezTo>
                  <a:pt x="455090" y="2032946"/>
                  <a:pt x="0" y="1577856"/>
                  <a:pt x="0" y="1016473"/>
                </a:cubicBezTo>
                <a:cubicBezTo>
                  <a:pt x="0" y="455091"/>
                  <a:pt x="455090" y="0"/>
                  <a:pt x="1016473" y="0"/>
                </a:cubicBezTo>
                <a:cubicBezTo>
                  <a:pt x="1577856" y="0"/>
                  <a:pt x="2032946" y="455091"/>
                  <a:pt x="2032946" y="1016473"/>
                </a:cubicBezTo>
                <a:close/>
              </a:path>
            </a:pathLst>
          </a:custGeom>
          <a:noFill/>
          <a:ln cap="sq" w="40962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6" name="Freeform: Shape 17"/>
          <p:cNvSpPr/>
          <p:nvPr/>
        </p:nvSpPr>
        <p:spPr>
          <a:xfrm>
            <a:off x="5529240" y="3417840"/>
            <a:ext cx="1142280" cy="1142280"/>
          </a:xfrm>
          <a:custGeom>
            <a:avLst/>
            <a:gdLst>
              <a:gd name="textAreaLeft" fmla="*/ 0 w 1142280"/>
              <a:gd name="textAreaRight" fmla="*/ 1142640 w 1142280"/>
              <a:gd name="textAreaTop" fmla="*/ 0 h 1142280"/>
              <a:gd name="textAreaBottom" fmla="*/ 1142640 h 1142280"/>
            </a:gdLst>
            <a:ahLst/>
            <a:rect l="textAreaLeft" t="textAreaTop" r="textAreaRight" b="textAreaBottom"/>
            <a:pathLst>
              <a:path w="1142762" h="1142762">
                <a:moveTo>
                  <a:pt x="1142762" y="571381"/>
                </a:moveTo>
                <a:cubicBezTo>
                  <a:pt x="1142762" y="886947"/>
                  <a:pt x="886946" y="1142763"/>
                  <a:pt x="571381" y="1142763"/>
                </a:cubicBezTo>
                <a:cubicBezTo>
                  <a:pt x="255816" y="1142763"/>
                  <a:pt x="0" y="886947"/>
                  <a:pt x="0" y="571381"/>
                </a:cubicBezTo>
                <a:cubicBezTo>
                  <a:pt x="0" y="255816"/>
                  <a:pt x="255816" y="0"/>
                  <a:pt x="571381" y="0"/>
                </a:cubicBezTo>
                <a:cubicBezTo>
                  <a:pt x="886946" y="0"/>
                  <a:pt x="1142762" y="255816"/>
                  <a:pt x="1142762" y="571381"/>
                </a:cubicBezTo>
                <a:close/>
              </a:path>
            </a:pathLst>
          </a:custGeom>
          <a:noFill/>
          <a:ln cap="sq" w="53836">
            <a:solidFill>
              <a:srgbClr val="d4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7" name="Freeform: Shape 18"/>
          <p:cNvSpPr/>
          <p:nvPr/>
        </p:nvSpPr>
        <p:spPr>
          <a:xfrm>
            <a:off x="3650760" y="1537920"/>
            <a:ext cx="4900680" cy="4902120"/>
          </a:xfrm>
          <a:custGeom>
            <a:avLst/>
            <a:gdLst>
              <a:gd name="textAreaLeft" fmla="*/ 0 w 4900680"/>
              <a:gd name="textAreaRight" fmla="*/ 4901040 w 4900680"/>
              <a:gd name="textAreaTop" fmla="*/ 0 h 4902120"/>
              <a:gd name="textAreaBottom" fmla="*/ 4902480 h 4902120"/>
            </a:gdLst>
            <a:ahLst/>
            <a:rect l="textAreaLeft" t="textAreaTop" r="textAreaRight" b="textAreaBottom"/>
            <a:pathLst>
              <a:path w="4901062" h="4902358">
                <a:moveTo>
                  <a:pt x="2134148" y="2927015"/>
                </a:moveTo>
                <a:cubicBezTo>
                  <a:pt x="2335552" y="3064646"/>
                  <a:pt x="2387721" y="3395247"/>
                  <a:pt x="2382847" y="3653253"/>
                </a:cubicBezTo>
                <a:cubicBezTo>
                  <a:pt x="2377979" y="3911253"/>
                  <a:pt x="2249353" y="4331121"/>
                  <a:pt x="2144884" y="4550887"/>
                </a:cubicBezTo>
                <a:cubicBezTo>
                  <a:pt x="2040420" y="4770653"/>
                  <a:pt x="2176844" y="4897737"/>
                  <a:pt x="2450260" y="4902359"/>
                </a:cubicBezTo>
                <a:cubicBezTo>
                  <a:pt x="2723681" y="4897737"/>
                  <a:pt x="2860106" y="4770653"/>
                  <a:pt x="2755642" y="4550887"/>
                </a:cubicBezTo>
                <a:cubicBezTo>
                  <a:pt x="2651172" y="4331121"/>
                  <a:pt x="2522546" y="3911253"/>
                  <a:pt x="2517672" y="3653253"/>
                </a:cubicBezTo>
                <a:cubicBezTo>
                  <a:pt x="2512804" y="3395247"/>
                  <a:pt x="2564974" y="3064646"/>
                  <a:pt x="2766377" y="2927015"/>
                </a:cubicBezTo>
                <a:cubicBezTo>
                  <a:pt x="2824060" y="2887033"/>
                  <a:pt x="2878931" y="2838909"/>
                  <a:pt x="2925718" y="2767263"/>
                </a:cubicBezTo>
                <a:cubicBezTo>
                  <a:pt x="3063349" y="2565859"/>
                  <a:pt x="3393955" y="2513690"/>
                  <a:pt x="3651956" y="2518558"/>
                </a:cubicBezTo>
                <a:cubicBezTo>
                  <a:pt x="3909957" y="2523431"/>
                  <a:pt x="4329824" y="2652057"/>
                  <a:pt x="4549590" y="2756527"/>
                </a:cubicBezTo>
                <a:cubicBezTo>
                  <a:pt x="4769357" y="2860991"/>
                  <a:pt x="4896440" y="2724566"/>
                  <a:pt x="4901062" y="2451145"/>
                </a:cubicBezTo>
                <a:cubicBezTo>
                  <a:pt x="4896440" y="2177730"/>
                  <a:pt x="4769357" y="2041305"/>
                  <a:pt x="4549590" y="2145769"/>
                </a:cubicBezTo>
                <a:cubicBezTo>
                  <a:pt x="4329824" y="2250233"/>
                  <a:pt x="3909957" y="2378865"/>
                  <a:pt x="3651956" y="2383733"/>
                </a:cubicBezTo>
                <a:cubicBezTo>
                  <a:pt x="3393955" y="2388606"/>
                  <a:pt x="3063349" y="2336437"/>
                  <a:pt x="2925718" y="2135028"/>
                </a:cubicBezTo>
                <a:cubicBezTo>
                  <a:pt x="2880994" y="2067718"/>
                  <a:pt x="2826711" y="2016200"/>
                  <a:pt x="2765977" y="1975344"/>
                </a:cubicBezTo>
                <a:cubicBezTo>
                  <a:pt x="2564574" y="1837713"/>
                  <a:pt x="2512404" y="1507113"/>
                  <a:pt x="2517272" y="1249106"/>
                </a:cubicBezTo>
                <a:cubicBezTo>
                  <a:pt x="2522146" y="991106"/>
                  <a:pt x="2650772" y="571238"/>
                  <a:pt x="2755242" y="351472"/>
                </a:cubicBezTo>
                <a:cubicBezTo>
                  <a:pt x="2859706" y="131706"/>
                  <a:pt x="2723281" y="4624"/>
                  <a:pt x="2449860" y="0"/>
                </a:cubicBezTo>
                <a:cubicBezTo>
                  <a:pt x="2176444" y="4624"/>
                  <a:pt x="2040014" y="131706"/>
                  <a:pt x="2144484" y="351472"/>
                </a:cubicBezTo>
                <a:cubicBezTo>
                  <a:pt x="2248948" y="571238"/>
                  <a:pt x="2377579" y="991106"/>
                  <a:pt x="2382447" y="1249106"/>
                </a:cubicBezTo>
                <a:cubicBezTo>
                  <a:pt x="2387321" y="1507113"/>
                  <a:pt x="2335146" y="1837713"/>
                  <a:pt x="2133742" y="1975344"/>
                </a:cubicBezTo>
                <a:cubicBezTo>
                  <a:pt x="2072397" y="2017937"/>
                  <a:pt x="2016417" y="2067701"/>
                  <a:pt x="1975344" y="2137370"/>
                </a:cubicBezTo>
                <a:cubicBezTo>
                  <a:pt x="1837713" y="2338774"/>
                  <a:pt x="1507112" y="2390949"/>
                  <a:pt x="1249106" y="2386075"/>
                </a:cubicBezTo>
                <a:cubicBezTo>
                  <a:pt x="991106" y="2381202"/>
                  <a:pt x="571238" y="2252576"/>
                  <a:pt x="351472" y="2148106"/>
                </a:cubicBezTo>
                <a:cubicBezTo>
                  <a:pt x="131707" y="2043642"/>
                  <a:pt x="4624" y="2180067"/>
                  <a:pt x="0" y="2453488"/>
                </a:cubicBezTo>
                <a:cubicBezTo>
                  <a:pt x="4625" y="2726903"/>
                  <a:pt x="131707" y="2863334"/>
                  <a:pt x="351472" y="2758864"/>
                </a:cubicBezTo>
                <a:cubicBezTo>
                  <a:pt x="571238" y="2654400"/>
                  <a:pt x="991106" y="2525774"/>
                  <a:pt x="1249106" y="2520900"/>
                </a:cubicBezTo>
                <a:cubicBezTo>
                  <a:pt x="1507112" y="2516027"/>
                  <a:pt x="1837713" y="2568202"/>
                  <a:pt x="1975344" y="2769605"/>
                </a:cubicBezTo>
                <a:cubicBezTo>
                  <a:pt x="2019840" y="2835538"/>
                  <a:pt x="2073294" y="2887176"/>
                  <a:pt x="2134148" y="2927015"/>
                </a:cubicBezTo>
                <a:close/>
              </a:path>
            </a:pathLst>
          </a:custGeom>
          <a:noFill/>
          <a:ln cap="rnd" w="57055">
            <a:solidFill>
              <a:srgbClr val="ff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Oval 19"/>
          <p:cNvSpPr/>
          <p:nvPr/>
        </p:nvSpPr>
        <p:spPr>
          <a:xfrm>
            <a:off x="7017480" y="3700440"/>
            <a:ext cx="504360" cy="561600"/>
          </a:xfrm>
          <a:prstGeom prst="ellipse">
            <a:avLst/>
          </a:prstGeom>
          <a:noFill/>
          <a:ln w="762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Freeform: Shape 2"/>
          <p:cNvSpPr/>
          <p:nvPr/>
        </p:nvSpPr>
        <p:spPr>
          <a:xfrm>
            <a:off x="7533000" y="3360240"/>
            <a:ext cx="1761120" cy="364680"/>
          </a:xfrm>
          <a:custGeom>
            <a:avLst/>
            <a:gdLst>
              <a:gd name="textAreaLeft" fmla="*/ 0 w 1761120"/>
              <a:gd name="textAreaRight" fmla="*/ 1761480 w 1761120"/>
              <a:gd name="textAreaTop" fmla="*/ 0 h 364680"/>
              <a:gd name="textAreaBottom" fmla="*/ 365040 h 364680"/>
            </a:gdLst>
            <a:ahLst/>
            <a:rect l="textAreaLeft" t="textAreaTop" r="textAreaRight" b="textAreaBottom"/>
            <a:pathLst>
              <a:path w="2790825" h="268098">
                <a:moveTo>
                  <a:pt x="2790825" y="182373"/>
                </a:moveTo>
                <a:cubicBezTo>
                  <a:pt x="2285206" y="84741"/>
                  <a:pt x="1779587" y="-12890"/>
                  <a:pt x="1314450" y="1398"/>
                </a:cubicBezTo>
                <a:cubicBezTo>
                  <a:pt x="849312" y="15685"/>
                  <a:pt x="424656" y="141891"/>
                  <a:pt x="0" y="268098"/>
                </a:cubicBezTo>
              </a:path>
            </a:pathLst>
          </a:custGeom>
          <a:noFill/>
          <a:ln w="76200">
            <a:solidFill>
              <a:srgbClr val="c00000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9313920" y="3417840"/>
            <a:ext cx="1845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Not Touching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60" dur="indefinite" restart="never" nodeType="tmRoot">
          <p:childTnLst>
            <p:seq>
              <p:cTn id="261" dur="indefinite" nodeType="mainSeq">
                <p:childTnLst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5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4 circles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2" name="Freeform: Shape 6"/>
          <p:cNvSpPr/>
          <p:nvPr/>
        </p:nvSpPr>
        <p:spPr>
          <a:xfrm>
            <a:off x="6100560" y="1172520"/>
            <a:ext cx="56880" cy="5672880"/>
          </a:xfrm>
          <a:custGeom>
            <a:avLst/>
            <a:gdLst>
              <a:gd name="textAreaLeft" fmla="*/ 0 w 56880"/>
              <a:gd name="textAreaRight" fmla="*/ 57240 w 56880"/>
              <a:gd name="textAreaTop" fmla="*/ 0 h 5672880"/>
              <a:gd name="textAreaBottom" fmla="*/ 5673240 h 5672880"/>
            </a:gdLst>
            <a:ahLst/>
            <a:rect l="textAreaLeft" t="textAreaTop" r="textAreaRight" b="textAreaBottom"/>
            <a:pathLst>
              <a:path w="57134" h="5673416">
                <a:moveTo>
                  <a:pt x="0" y="5673417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3" name="Freeform: Shape 7"/>
          <p:cNvSpPr/>
          <p:nvPr/>
        </p:nvSpPr>
        <p:spPr>
          <a:xfrm>
            <a:off x="3243960" y="3989160"/>
            <a:ext cx="5672880" cy="56880"/>
          </a:xfrm>
          <a:custGeom>
            <a:avLst/>
            <a:gdLst>
              <a:gd name="textAreaLeft" fmla="*/ 0 w 5672880"/>
              <a:gd name="textAreaRight" fmla="*/ 5673240 w 5672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73416" h="57134">
                <a:moveTo>
                  <a:pt x="0" y="0"/>
                </a:moveTo>
                <a:lnTo>
                  <a:pt x="5673417" y="0"/>
                </a:lnTo>
              </a:path>
            </a:pathLst>
          </a:custGeom>
          <a:solidFill>
            <a:srgbClr val="000000">
              <a:alpha val="50000"/>
            </a:srgbClr>
          </a:solidFill>
          <a:ln cap="sq" w="34233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4" name="Freeform: Shape 8"/>
          <p:cNvSpPr/>
          <p:nvPr/>
        </p:nvSpPr>
        <p:spPr>
          <a:xfrm>
            <a:off x="719856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5" name="Freeform: Shape 9"/>
          <p:cNvSpPr/>
          <p:nvPr/>
        </p:nvSpPr>
        <p:spPr>
          <a:xfrm>
            <a:off x="4884480" y="277308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6" name="Freeform: Shape 10"/>
          <p:cNvSpPr/>
          <p:nvPr/>
        </p:nvSpPr>
        <p:spPr>
          <a:xfrm>
            <a:off x="488448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0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Freeform: Shape 11"/>
          <p:cNvSpPr/>
          <p:nvPr/>
        </p:nvSpPr>
        <p:spPr>
          <a:xfrm>
            <a:off x="7198560" y="5086800"/>
            <a:ext cx="118080" cy="118080"/>
          </a:xfrm>
          <a:custGeom>
            <a:avLst/>
            <a:gdLst>
              <a:gd name="textAreaLeft" fmla="*/ 0 w 118080"/>
              <a:gd name="textAreaRight" fmla="*/ 118440 w 118080"/>
              <a:gd name="textAreaTop" fmla="*/ 0 h 118080"/>
              <a:gd name="textAreaBottom" fmla="*/ 118440 h 11808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3"/>
                </a:lnTo>
                <a:moveTo>
                  <a:pt x="0" y="840"/>
                </a:moveTo>
                <a:lnTo>
                  <a:pt x="117102" y="118313"/>
                </a:lnTo>
              </a:path>
            </a:pathLst>
          </a:custGeom>
          <a:noFill/>
          <a:ln cap="rnd" w="24486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Freeform: Shape 12"/>
          <p:cNvSpPr/>
          <p:nvPr/>
        </p:nvSpPr>
        <p:spPr>
          <a:xfrm>
            <a:off x="3772440" y="1661040"/>
            <a:ext cx="4656240" cy="4656240"/>
          </a:xfrm>
          <a:custGeom>
            <a:avLst/>
            <a:gdLst>
              <a:gd name="textAreaLeft" fmla="*/ 0 w 4656240"/>
              <a:gd name="textAreaRight" fmla="*/ 4656600 w 4656240"/>
              <a:gd name="textAreaTop" fmla="*/ 0 h 4656240"/>
              <a:gd name="textAreaBottom" fmla="*/ 4656600 h 4656240"/>
            </a:gdLst>
            <a:ahLst/>
            <a:rect l="textAreaLeft" t="textAreaTop" r="textAreaRight" b="textAreaBottom"/>
            <a:pathLst>
              <a:path w="4656430" h="4656430">
                <a:moveTo>
                  <a:pt x="0" y="0"/>
                </a:moveTo>
                <a:lnTo>
                  <a:pt x="4656431" y="0"/>
                </a:lnTo>
                <a:lnTo>
                  <a:pt x="4656431" y="4656431"/>
                </a:lnTo>
                <a:lnTo>
                  <a:pt x="0" y="4656431"/>
                </a:lnTo>
                <a:close/>
              </a:path>
            </a:pathLst>
          </a:custGeom>
          <a:noFill/>
          <a:ln cap="rnd" w="57055">
            <a:solidFill>
              <a:srgbClr val="5aa02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9" name="Freeform: Shape 13"/>
          <p:cNvSpPr/>
          <p:nvPr/>
        </p:nvSpPr>
        <p:spPr>
          <a:xfrm>
            <a:off x="6240960" y="181584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946" h="2032946">
                <a:moveTo>
                  <a:pt x="2032946" y="1016473"/>
                </a:moveTo>
                <a:cubicBezTo>
                  <a:pt x="2032946" y="1577856"/>
                  <a:pt x="1577856" y="2032946"/>
                  <a:pt x="1016473" y="2032946"/>
                </a:cubicBezTo>
                <a:cubicBezTo>
                  <a:pt x="455090" y="2032946"/>
                  <a:pt x="0" y="1577856"/>
                  <a:pt x="0" y="1016473"/>
                </a:cubicBezTo>
                <a:cubicBezTo>
                  <a:pt x="0" y="455090"/>
                  <a:pt x="455090" y="0"/>
                  <a:pt x="1016473" y="0"/>
                </a:cubicBezTo>
                <a:cubicBezTo>
                  <a:pt x="1577856" y="0"/>
                  <a:pt x="2032946" y="455090"/>
                  <a:pt x="2032946" y="1016473"/>
                </a:cubicBezTo>
                <a:close/>
              </a:path>
            </a:pathLst>
          </a:custGeom>
          <a:noFill/>
          <a:ln cap="sq" w="40962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0" name="Freeform: Shape 14"/>
          <p:cNvSpPr/>
          <p:nvPr/>
        </p:nvSpPr>
        <p:spPr>
          <a:xfrm>
            <a:off x="3927240" y="181584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946" h="2032946">
                <a:moveTo>
                  <a:pt x="2032946" y="1016473"/>
                </a:moveTo>
                <a:cubicBezTo>
                  <a:pt x="2032946" y="1577856"/>
                  <a:pt x="1577856" y="2032946"/>
                  <a:pt x="1016473" y="2032946"/>
                </a:cubicBezTo>
                <a:cubicBezTo>
                  <a:pt x="455090" y="2032946"/>
                  <a:pt x="0" y="1577856"/>
                  <a:pt x="0" y="1016473"/>
                </a:cubicBezTo>
                <a:cubicBezTo>
                  <a:pt x="0" y="455090"/>
                  <a:pt x="455090" y="0"/>
                  <a:pt x="1016473" y="0"/>
                </a:cubicBezTo>
                <a:cubicBezTo>
                  <a:pt x="1577856" y="0"/>
                  <a:pt x="2032946" y="455090"/>
                  <a:pt x="2032946" y="1016473"/>
                </a:cubicBezTo>
                <a:close/>
              </a:path>
            </a:pathLst>
          </a:custGeom>
          <a:noFill/>
          <a:ln cap="sq" w="40962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Freeform: Shape 15"/>
          <p:cNvSpPr/>
          <p:nvPr/>
        </p:nvSpPr>
        <p:spPr>
          <a:xfrm>
            <a:off x="3927240" y="412956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946" h="2032946">
                <a:moveTo>
                  <a:pt x="2032946" y="1016473"/>
                </a:moveTo>
                <a:cubicBezTo>
                  <a:pt x="2032946" y="1577856"/>
                  <a:pt x="1577856" y="2032946"/>
                  <a:pt x="1016473" y="2032946"/>
                </a:cubicBezTo>
                <a:cubicBezTo>
                  <a:pt x="455090" y="2032946"/>
                  <a:pt x="0" y="1577856"/>
                  <a:pt x="0" y="1016473"/>
                </a:cubicBezTo>
                <a:cubicBezTo>
                  <a:pt x="0" y="455091"/>
                  <a:pt x="455090" y="0"/>
                  <a:pt x="1016473" y="0"/>
                </a:cubicBezTo>
                <a:cubicBezTo>
                  <a:pt x="1577856" y="0"/>
                  <a:pt x="2032946" y="455091"/>
                  <a:pt x="2032946" y="1016473"/>
                </a:cubicBezTo>
                <a:close/>
              </a:path>
            </a:pathLst>
          </a:custGeom>
          <a:noFill/>
          <a:ln cap="sq" w="40962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" name="Freeform: Shape 16"/>
          <p:cNvSpPr/>
          <p:nvPr/>
        </p:nvSpPr>
        <p:spPr>
          <a:xfrm>
            <a:off x="6240960" y="4129560"/>
            <a:ext cx="2032560" cy="2032560"/>
          </a:xfrm>
          <a:custGeom>
            <a:avLst/>
            <a:gdLst>
              <a:gd name="textAreaLeft" fmla="*/ 0 w 2032560"/>
              <a:gd name="textAreaRight" fmla="*/ 2032920 w 2032560"/>
              <a:gd name="textAreaTop" fmla="*/ 0 h 2032560"/>
              <a:gd name="textAreaBottom" fmla="*/ 2032920 h 2032560"/>
            </a:gdLst>
            <a:ahLst/>
            <a:rect l="textAreaLeft" t="textAreaTop" r="textAreaRight" b="textAreaBottom"/>
            <a:pathLst>
              <a:path w="2032946" h="2032946">
                <a:moveTo>
                  <a:pt x="2032946" y="1016473"/>
                </a:moveTo>
                <a:cubicBezTo>
                  <a:pt x="2032946" y="1577856"/>
                  <a:pt x="1577856" y="2032946"/>
                  <a:pt x="1016473" y="2032946"/>
                </a:cubicBezTo>
                <a:cubicBezTo>
                  <a:pt x="455090" y="2032946"/>
                  <a:pt x="0" y="1577856"/>
                  <a:pt x="0" y="1016473"/>
                </a:cubicBezTo>
                <a:cubicBezTo>
                  <a:pt x="0" y="455091"/>
                  <a:pt x="455090" y="0"/>
                  <a:pt x="1016473" y="0"/>
                </a:cubicBezTo>
                <a:cubicBezTo>
                  <a:pt x="1577856" y="0"/>
                  <a:pt x="2032946" y="455091"/>
                  <a:pt x="2032946" y="1016473"/>
                </a:cubicBezTo>
                <a:close/>
              </a:path>
            </a:pathLst>
          </a:custGeom>
          <a:noFill/>
          <a:ln cap="sq" w="40962">
            <a:solidFill>
              <a:srgbClr val="37abc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3" name="Freeform: Shape 17"/>
          <p:cNvSpPr/>
          <p:nvPr/>
        </p:nvSpPr>
        <p:spPr>
          <a:xfrm>
            <a:off x="5529240" y="3417840"/>
            <a:ext cx="1142280" cy="1142280"/>
          </a:xfrm>
          <a:custGeom>
            <a:avLst/>
            <a:gdLst>
              <a:gd name="textAreaLeft" fmla="*/ 0 w 1142280"/>
              <a:gd name="textAreaRight" fmla="*/ 1142640 w 1142280"/>
              <a:gd name="textAreaTop" fmla="*/ 0 h 1142280"/>
              <a:gd name="textAreaBottom" fmla="*/ 1142640 h 1142280"/>
            </a:gdLst>
            <a:ahLst/>
            <a:rect l="textAreaLeft" t="textAreaTop" r="textAreaRight" b="textAreaBottom"/>
            <a:pathLst>
              <a:path w="1142762" h="1142762">
                <a:moveTo>
                  <a:pt x="1142762" y="571381"/>
                </a:moveTo>
                <a:cubicBezTo>
                  <a:pt x="1142762" y="886947"/>
                  <a:pt x="886946" y="1142763"/>
                  <a:pt x="571381" y="1142763"/>
                </a:cubicBezTo>
                <a:cubicBezTo>
                  <a:pt x="255816" y="1142763"/>
                  <a:pt x="0" y="886947"/>
                  <a:pt x="0" y="571381"/>
                </a:cubicBezTo>
                <a:cubicBezTo>
                  <a:pt x="0" y="255816"/>
                  <a:pt x="255816" y="0"/>
                  <a:pt x="571381" y="0"/>
                </a:cubicBezTo>
                <a:cubicBezTo>
                  <a:pt x="886946" y="0"/>
                  <a:pt x="1142762" y="255816"/>
                  <a:pt x="1142762" y="571381"/>
                </a:cubicBezTo>
                <a:close/>
              </a:path>
            </a:pathLst>
          </a:custGeom>
          <a:noFill/>
          <a:ln cap="sq" w="53836">
            <a:solidFill>
              <a:srgbClr val="d4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4" name="Freeform: Shape 18"/>
          <p:cNvSpPr/>
          <p:nvPr/>
        </p:nvSpPr>
        <p:spPr>
          <a:xfrm>
            <a:off x="3650760" y="1537920"/>
            <a:ext cx="4900680" cy="4902120"/>
          </a:xfrm>
          <a:custGeom>
            <a:avLst/>
            <a:gdLst>
              <a:gd name="textAreaLeft" fmla="*/ 0 w 4900680"/>
              <a:gd name="textAreaRight" fmla="*/ 4901040 w 4900680"/>
              <a:gd name="textAreaTop" fmla="*/ 0 h 4902120"/>
              <a:gd name="textAreaBottom" fmla="*/ 4902480 h 4902120"/>
            </a:gdLst>
            <a:ahLst/>
            <a:rect l="textAreaLeft" t="textAreaTop" r="textAreaRight" b="textAreaBottom"/>
            <a:pathLst>
              <a:path w="4901062" h="4902358">
                <a:moveTo>
                  <a:pt x="2134148" y="2927015"/>
                </a:moveTo>
                <a:cubicBezTo>
                  <a:pt x="2335552" y="3064646"/>
                  <a:pt x="2387721" y="3395247"/>
                  <a:pt x="2382847" y="3653253"/>
                </a:cubicBezTo>
                <a:cubicBezTo>
                  <a:pt x="2377979" y="3911253"/>
                  <a:pt x="2249353" y="4331121"/>
                  <a:pt x="2144884" y="4550887"/>
                </a:cubicBezTo>
                <a:cubicBezTo>
                  <a:pt x="2040420" y="4770653"/>
                  <a:pt x="2176844" y="4897737"/>
                  <a:pt x="2450260" y="4902359"/>
                </a:cubicBezTo>
                <a:cubicBezTo>
                  <a:pt x="2723681" y="4897737"/>
                  <a:pt x="2860106" y="4770653"/>
                  <a:pt x="2755642" y="4550887"/>
                </a:cubicBezTo>
                <a:cubicBezTo>
                  <a:pt x="2651172" y="4331121"/>
                  <a:pt x="2522546" y="3911253"/>
                  <a:pt x="2517672" y="3653253"/>
                </a:cubicBezTo>
                <a:cubicBezTo>
                  <a:pt x="2512804" y="3395247"/>
                  <a:pt x="2564974" y="3064646"/>
                  <a:pt x="2766377" y="2927015"/>
                </a:cubicBezTo>
                <a:cubicBezTo>
                  <a:pt x="2824060" y="2887033"/>
                  <a:pt x="2878931" y="2838909"/>
                  <a:pt x="2925718" y="2767263"/>
                </a:cubicBezTo>
                <a:cubicBezTo>
                  <a:pt x="3063349" y="2565859"/>
                  <a:pt x="3393955" y="2513690"/>
                  <a:pt x="3651956" y="2518558"/>
                </a:cubicBezTo>
                <a:cubicBezTo>
                  <a:pt x="3909957" y="2523431"/>
                  <a:pt x="4329824" y="2652057"/>
                  <a:pt x="4549590" y="2756527"/>
                </a:cubicBezTo>
                <a:cubicBezTo>
                  <a:pt x="4769357" y="2860991"/>
                  <a:pt x="4896440" y="2724566"/>
                  <a:pt x="4901062" y="2451145"/>
                </a:cubicBezTo>
                <a:cubicBezTo>
                  <a:pt x="4896440" y="2177730"/>
                  <a:pt x="4769357" y="2041305"/>
                  <a:pt x="4549590" y="2145769"/>
                </a:cubicBezTo>
                <a:cubicBezTo>
                  <a:pt x="4329824" y="2250233"/>
                  <a:pt x="3909957" y="2378865"/>
                  <a:pt x="3651956" y="2383733"/>
                </a:cubicBezTo>
                <a:cubicBezTo>
                  <a:pt x="3393955" y="2388606"/>
                  <a:pt x="3063349" y="2336437"/>
                  <a:pt x="2925718" y="2135028"/>
                </a:cubicBezTo>
                <a:cubicBezTo>
                  <a:pt x="2880994" y="2067718"/>
                  <a:pt x="2826711" y="2016200"/>
                  <a:pt x="2765977" y="1975344"/>
                </a:cubicBezTo>
                <a:cubicBezTo>
                  <a:pt x="2564574" y="1837713"/>
                  <a:pt x="2512404" y="1507113"/>
                  <a:pt x="2517272" y="1249106"/>
                </a:cubicBezTo>
                <a:cubicBezTo>
                  <a:pt x="2522146" y="991106"/>
                  <a:pt x="2650772" y="571238"/>
                  <a:pt x="2755242" y="351472"/>
                </a:cubicBezTo>
                <a:cubicBezTo>
                  <a:pt x="2859706" y="131706"/>
                  <a:pt x="2723281" y="4624"/>
                  <a:pt x="2449860" y="0"/>
                </a:cubicBezTo>
                <a:cubicBezTo>
                  <a:pt x="2176444" y="4624"/>
                  <a:pt x="2040014" y="131706"/>
                  <a:pt x="2144484" y="351472"/>
                </a:cubicBezTo>
                <a:cubicBezTo>
                  <a:pt x="2248948" y="571238"/>
                  <a:pt x="2377579" y="991106"/>
                  <a:pt x="2382447" y="1249106"/>
                </a:cubicBezTo>
                <a:cubicBezTo>
                  <a:pt x="2387321" y="1507113"/>
                  <a:pt x="2335146" y="1837713"/>
                  <a:pt x="2133742" y="1975344"/>
                </a:cubicBezTo>
                <a:cubicBezTo>
                  <a:pt x="2072397" y="2017937"/>
                  <a:pt x="2016417" y="2067701"/>
                  <a:pt x="1975344" y="2137370"/>
                </a:cubicBezTo>
                <a:cubicBezTo>
                  <a:pt x="1837713" y="2338774"/>
                  <a:pt x="1507112" y="2390949"/>
                  <a:pt x="1249106" y="2386075"/>
                </a:cubicBezTo>
                <a:cubicBezTo>
                  <a:pt x="991106" y="2381202"/>
                  <a:pt x="571238" y="2252576"/>
                  <a:pt x="351472" y="2148106"/>
                </a:cubicBezTo>
                <a:cubicBezTo>
                  <a:pt x="131707" y="2043642"/>
                  <a:pt x="4624" y="2180067"/>
                  <a:pt x="0" y="2453488"/>
                </a:cubicBezTo>
                <a:cubicBezTo>
                  <a:pt x="4625" y="2726903"/>
                  <a:pt x="131707" y="2863334"/>
                  <a:pt x="351472" y="2758864"/>
                </a:cubicBezTo>
                <a:cubicBezTo>
                  <a:pt x="571238" y="2654400"/>
                  <a:pt x="991106" y="2525774"/>
                  <a:pt x="1249106" y="2520900"/>
                </a:cubicBezTo>
                <a:cubicBezTo>
                  <a:pt x="1507112" y="2516027"/>
                  <a:pt x="1837713" y="2568202"/>
                  <a:pt x="1975344" y="2769605"/>
                </a:cubicBezTo>
                <a:cubicBezTo>
                  <a:pt x="2019840" y="2835538"/>
                  <a:pt x="2073294" y="2887176"/>
                  <a:pt x="2134148" y="2927015"/>
                </a:cubicBezTo>
                <a:close/>
              </a:path>
            </a:pathLst>
          </a:custGeom>
          <a:noFill/>
          <a:ln cap="rnd" w="57055">
            <a:solidFill>
              <a:srgbClr val="ff66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5" name="Oval 19"/>
          <p:cNvSpPr/>
          <p:nvPr/>
        </p:nvSpPr>
        <p:spPr>
          <a:xfrm>
            <a:off x="7017480" y="3700440"/>
            <a:ext cx="504360" cy="561600"/>
          </a:xfrm>
          <a:prstGeom prst="ellipse">
            <a:avLst/>
          </a:prstGeom>
          <a:noFill/>
          <a:ln w="762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Freeform: Shape 2"/>
          <p:cNvSpPr/>
          <p:nvPr/>
        </p:nvSpPr>
        <p:spPr>
          <a:xfrm>
            <a:off x="7533000" y="3360240"/>
            <a:ext cx="1761120" cy="364680"/>
          </a:xfrm>
          <a:custGeom>
            <a:avLst/>
            <a:gdLst>
              <a:gd name="textAreaLeft" fmla="*/ 0 w 1761120"/>
              <a:gd name="textAreaRight" fmla="*/ 1761480 w 1761120"/>
              <a:gd name="textAreaTop" fmla="*/ 0 h 364680"/>
              <a:gd name="textAreaBottom" fmla="*/ 365040 h 364680"/>
            </a:gdLst>
            <a:ahLst/>
            <a:rect l="textAreaLeft" t="textAreaTop" r="textAreaRight" b="textAreaBottom"/>
            <a:pathLst>
              <a:path w="2790825" h="268098">
                <a:moveTo>
                  <a:pt x="2790825" y="182373"/>
                </a:moveTo>
                <a:cubicBezTo>
                  <a:pt x="2285206" y="84741"/>
                  <a:pt x="1779587" y="-12890"/>
                  <a:pt x="1314450" y="1398"/>
                </a:cubicBezTo>
                <a:cubicBezTo>
                  <a:pt x="849312" y="15685"/>
                  <a:pt x="424656" y="141891"/>
                  <a:pt x="0" y="268098"/>
                </a:cubicBezTo>
              </a:path>
            </a:pathLst>
          </a:custGeom>
          <a:noFill/>
          <a:ln w="76200">
            <a:solidFill>
              <a:srgbClr val="c00000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9313920" y="3417840"/>
            <a:ext cx="1845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c00000"/>
                </a:solidFill>
                <a:latin typeface="Calibri"/>
              </a:rPr>
              <a:t>Not Touching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Freeform: Shape 20"/>
          <p:cNvSpPr/>
          <p:nvPr/>
        </p:nvSpPr>
        <p:spPr>
          <a:xfrm>
            <a:off x="4448160" y="2310840"/>
            <a:ext cx="3502080" cy="3470400"/>
          </a:xfrm>
          <a:custGeom>
            <a:avLst/>
            <a:gdLst>
              <a:gd name="textAreaLeft" fmla="*/ 0 w 3502080"/>
              <a:gd name="textAreaRight" fmla="*/ 3502440 w 3502080"/>
              <a:gd name="textAreaTop" fmla="*/ 0 h 3470400"/>
              <a:gd name="textAreaBottom" fmla="*/ 3470760 h 347040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1905000">
            <a:solidFill>
              <a:srgbClr val="000000">
                <a:alpha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spheres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70" name="Content Placeholder 4" descr="A group of spheres with a red center&#10;&#10;Description automatically generated"/>
          <p:cNvPicPr/>
          <p:nvPr/>
        </p:nvPicPr>
        <p:blipFill>
          <a:blip r:embed="rId1"/>
          <a:stretch/>
        </p:blipFill>
        <p:spPr>
          <a:xfrm>
            <a:off x="3575520" y="1144440"/>
            <a:ext cx="5040720" cy="571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spheres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72" name="Content Placeholder 10" descr="A close-up of a molecule&#10;&#10;Description automatically generated"/>
          <p:cNvPicPr/>
          <p:nvPr/>
        </p:nvPicPr>
        <p:blipFill>
          <a:blip r:embed="rId1"/>
          <a:stretch/>
        </p:blipFill>
        <p:spPr>
          <a:xfrm>
            <a:off x="3575520" y="1144440"/>
            <a:ext cx="5040720" cy="5713200"/>
          </a:xfrm>
          <a:prstGeom prst="rect">
            <a:avLst/>
          </a:prstGeom>
          <a:ln w="0">
            <a:noFill/>
          </a:ln>
        </p:spPr>
      </p:pic>
      <p:sp>
        <p:nvSpPr>
          <p:cNvPr id="273" name="Freeform: Shape 12"/>
          <p:cNvSpPr/>
          <p:nvPr/>
        </p:nvSpPr>
        <p:spPr>
          <a:xfrm>
            <a:off x="6343560" y="2799000"/>
            <a:ext cx="2790360" cy="267840"/>
          </a:xfrm>
          <a:custGeom>
            <a:avLst/>
            <a:gdLst>
              <a:gd name="textAreaLeft" fmla="*/ 0 w 2790360"/>
              <a:gd name="textAreaRight" fmla="*/ 2790720 w 2790360"/>
              <a:gd name="textAreaTop" fmla="*/ 0 h 267840"/>
              <a:gd name="textAreaBottom" fmla="*/ 268200 h 267840"/>
            </a:gdLst>
            <a:ahLst/>
            <a:rect l="textAreaLeft" t="textAreaTop" r="textAreaRight" b="textAreaBottom"/>
            <a:pathLst>
              <a:path w="2790825" h="268098">
                <a:moveTo>
                  <a:pt x="2790825" y="182373"/>
                </a:moveTo>
                <a:cubicBezTo>
                  <a:pt x="2285206" y="84741"/>
                  <a:pt x="1779587" y="-12890"/>
                  <a:pt x="1314450" y="1398"/>
                </a:cubicBezTo>
                <a:cubicBezTo>
                  <a:pt x="849312" y="15685"/>
                  <a:pt x="424656" y="141891"/>
                  <a:pt x="0" y="268098"/>
                </a:cubicBezTo>
              </a:path>
            </a:pathLst>
          </a:custGeom>
          <a:noFill/>
          <a:ln w="76200">
            <a:solidFill>
              <a:srgbClr val="ed7d31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TextBox 13"/>
          <p:cNvSpPr/>
          <p:nvPr/>
        </p:nvSpPr>
        <p:spPr>
          <a:xfrm>
            <a:off x="9143640" y="2702160"/>
            <a:ext cx="1633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2"/>
                </a:solidFill>
                <a:latin typeface="Calibri"/>
              </a:rPr>
              <a:t>Not Convex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279" dur="indefinite" restart="never" nodeType="tmRoot">
          <p:childTnLst>
            <p:seq>
              <p:cTn id="280" dur="indefinite" nodeType="mainSeq">
                <p:childTnLst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8 spheres paradox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76" name="Content Placeholder 10" descr="A close-up of a molecule&#10;&#10;Description automatically generated"/>
          <p:cNvPicPr/>
          <p:nvPr/>
        </p:nvPicPr>
        <p:blipFill>
          <a:blip r:embed="rId1"/>
          <a:stretch/>
        </p:blipFill>
        <p:spPr>
          <a:xfrm>
            <a:off x="3575520" y="1144440"/>
            <a:ext cx="5040720" cy="5713200"/>
          </a:xfrm>
          <a:prstGeom prst="rect">
            <a:avLst/>
          </a:prstGeom>
          <a:ln w="0">
            <a:noFill/>
          </a:ln>
        </p:spPr>
      </p:pic>
      <p:sp>
        <p:nvSpPr>
          <p:cNvPr id="277" name="Freeform: Shape 12"/>
          <p:cNvSpPr/>
          <p:nvPr/>
        </p:nvSpPr>
        <p:spPr>
          <a:xfrm>
            <a:off x="6343560" y="2799000"/>
            <a:ext cx="2790360" cy="267840"/>
          </a:xfrm>
          <a:custGeom>
            <a:avLst/>
            <a:gdLst>
              <a:gd name="textAreaLeft" fmla="*/ 0 w 2790360"/>
              <a:gd name="textAreaRight" fmla="*/ 2790720 w 2790360"/>
              <a:gd name="textAreaTop" fmla="*/ 0 h 267840"/>
              <a:gd name="textAreaBottom" fmla="*/ 268200 h 267840"/>
            </a:gdLst>
            <a:ahLst/>
            <a:rect l="textAreaLeft" t="textAreaTop" r="textAreaRight" b="textAreaBottom"/>
            <a:pathLst>
              <a:path w="2790825" h="268098">
                <a:moveTo>
                  <a:pt x="2790825" y="182373"/>
                </a:moveTo>
                <a:cubicBezTo>
                  <a:pt x="2285206" y="84741"/>
                  <a:pt x="1779587" y="-12890"/>
                  <a:pt x="1314450" y="1398"/>
                </a:cubicBezTo>
                <a:cubicBezTo>
                  <a:pt x="849312" y="15685"/>
                  <a:pt x="424656" y="141891"/>
                  <a:pt x="0" y="268098"/>
                </a:cubicBezTo>
              </a:path>
            </a:pathLst>
          </a:custGeom>
          <a:noFill/>
          <a:ln w="76200">
            <a:solidFill>
              <a:srgbClr val="ed7d31"/>
            </a:solidFill>
            <a:tailEnd len="med" type="arrow" w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TextBox 13"/>
          <p:cNvSpPr/>
          <p:nvPr/>
        </p:nvSpPr>
        <p:spPr>
          <a:xfrm>
            <a:off x="9143640" y="2702160"/>
            <a:ext cx="1633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accent2"/>
                </a:solidFill>
                <a:latin typeface="Calibri"/>
              </a:rPr>
              <a:t>Not Convex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Freeform: Shape 11"/>
          <p:cNvSpPr/>
          <p:nvPr/>
        </p:nvSpPr>
        <p:spPr>
          <a:xfrm>
            <a:off x="4448160" y="2310840"/>
            <a:ext cx="3502080" cy="3470400"/>
          </a:xfrm>
          <a:custGeom>
            <a:avLst/>
            <a:gdLst>
              <a:gd name="textAreaLeft" fmla="*/ 0 w 3502080"/>
              <a:gd name="textAreaRight" fmla="*/ 3502440 w 3502080"/>
              <a:gd name="textAreaTop" fmla="*/ 0 h 3470400"/>
              <a:gd name="textAreaBottom" fmla="*/ 3470760 h 3470400"/>
            </a:gdLst>
            <a:ahLst/>
            <a:rect l="textAreaLeft" t="textAreaTop" r="textAreaRight" b="textAreaBottom"/>
            <a:pathLst>
              <a:path w="118313" h="118313">
                <a:moveTo>
                  <a:pt x="118313" y="0"/>
                </a:moveTo>
                <a:lnTo>
                  <a:pt x="1211" y="117474"/>
                </a:lnTo>
                <a:moveTo>
                  <a:pt x="0" y="846"/>
                </a:moveTo>
                <a:lnTo>
                  <a:pt x="117102" y="118313"/>
                </a:lnTo>
              </a:path>
            </a:pathLst>
          </a:custGeom>
          <a:noFill/>
          <a:ln cap="rnd" w="1905000">
            <a:solidFill>
              <a:srgbClr val="000000">
                <a:alpha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81" name="Picture 10" descr="A black and white drawing of a sailboat&#10;&#10;Description automatically generated"/>
          <p:cNvPicPr/>
          <p:nvPr/>
        </p:nvPicPr>
        <p:blipFill>
          <a:blip r:embed="rId1"/>
          <a:srcRect l="570" t="16407" r="-570" b="16407"/>
          <a:stretch/>
        </p:blipFill>
        <p:spPr>
          <a:xfrm>
            <a:off x="3974400" y="0"/>
            <a:ext cx="4291920" cy="2883240"/>
          </a:xfrm>
          <a:prstGeom prst="rect">
            <a:avLst/>
          </a:prstGeom>
          <a:ln w="0">
            <a:noFill/>
          </a:ln>
        </p:spPr>
      </p:pic>
      <p:pic>
        <p:nvPicPr>
          <p:cNvPr id="282" name="Picture 8" descr="A large city with many towers and a person walking on a bridge&#10;&#10;Description automatically generated with medium confidence"/>
          <p:cNvPicPr/>
          <p:nvPr/>
        </p:nvPicPr>
        <p:blipFill>
          <a:blip r:embed="rId2"/>
          <a:stretch/>
        </p:blipFill>
        <p:spPr>
          <a:xfrm>
            <a:off x="8217720" y="0"/>
            <a:ext cx="3974040" cy="397404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  <p:pic>
        <p:nvPicPr>
          <p:cNvPr id="283" name="Picture 2" descr="A drawing of a city&#10;&#10;Description automatically generated"/>
          <p:cNvPicPr/>
          <p:nvPr/>
        </p:nvPicPr>
        <p:blipFill>
          <a:blip r:embed="rId3"/>
          <a:stretch/>
        </p:blipFill>
        <p:spPr>
          <a:xfrm>
            <a:off x="0" y="0"/>
            <a:ext cx="3974040" cy="397404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  <p:pic>
        <p:nvPicPr>
          <p:cNvPr id="284" name="Picture 4" descr="A group of people standing in a city&#10;&#10;Description automatically generated"/>
          <p:cNvPicPr/>
          <p:nvPr/>
        </p:nvPicPr>
        <p:blipFill>
          <a:blip r:embed="rId4"/>
          <a:stretch/>
        </p:blipFill>
        <p:spPr>
          <a:xfrm>
            <a:off x="2124000" y="2883600"/>
            <a:ext cx="3974040" cy="397404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  <p:pic>
        <p:nvPicPr>
          <p:cNvPr id="285" name="Picture 6" descr="A drawing of a structure with many spheres and lines&#10;&#10;Description automatically generated"/>
          <p:cNvPicPr/>
          <p:nvPr/>
        </p:nvPicPr>
        <p:blipFill>
          <a:blip r:embed="rId5"/>
          <a:stretch/>
        </p:blipFill>
        <p:spPr>
          <a:xfrm>
            <a:off x="6095880" y="2883600"/>
            <a:ext cx="3974040" cy="397404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3971880" y="0"/>
            <a:ext cx="4291920" cy="2883240"/>
          </a:xfrm>
          <a:prstGeom prst="rect">
            <a:avLst/>
          </a:prstGeom>
          <a:solidFill>
            <a:srgbClr val="f9fafb">
              <a:alpha val="67000"/>
            </a:srgbClr>
          </a:solidFill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chemeClr val="dk1"/>
                </a:solidFill>
                <a:latin typeface="Calibri Light"/>
              </a:rPr>
              <a:t>“</a:t>
            </a:r>
            <a:r>
              <a:rPr b="1" lang="en-US" sz="4000" spc="-1" strike="noStrike">
                <a:solidFill>
                  <a:schemeClr val="dk1"/>
                </a:solidFill>
                <a:latin typeface="Calibri Light"/>
              </a:rPr>
              <a:t>high dimensions”</a:t>
            </a:r>
            <a:br>
              <a:rPr sz="4000"/>
            </a:br>
            <a:r>
              <a:rPr b="1" lang="en-US" sz="4000" spc="-1" strike="noStrike">
                <a:solidFill>
                  <a:schemeClr val="dk1"/>
                </a:solidFill>
                <a:latin typeface="Calibri Light"/>
              </a:rPr>
              <a:t>(MidJourney)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References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7605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Art of Doing Science and Engineering” (Richard Hamming), Book, 1997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 world from a sheet of paper” (Tadashi Tokieda), Oxford Mathematics Public Lecture, 14</a:t>
            </a:r>
            <a:r>
              <a:rPr b="0" lang="en-US" sz="2800" spc="-1" strike="noStrike" baseline="30000">
                <a:solidFill>
                  <a:schemeClr val="dk1"/>
                </a:solidFill>
                <a:latin typeface="Calibri"/>
              </a:rPr>
              <a:t>th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of June 2023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“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Legend of Abraham Wald” (Bill Casselman), American Mathematical Society Public Outreach, June 2016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MidJourney” V5.2 (Midjourney Inc.), </a:t>
            </a:r>
            <a:r>
              <a:rPr b="0" lang="en-US" sz="28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https://www.midjourney.com/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22</a:t>
            </a:r>
            <a:r>
              <a:rPr b="0" lang="en-US" sz="2800" spc="-1" strike="noStrike" baseline="30000">
                <a:solidFill>
                  <a:schemeClr val="dk1"/>
                </a:solidFill>
                <a:latin typeface="Calibri"/>
              </a:rPr>
              <a:t>nd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of June 2023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89" name="Content Placeholder 5" descr="A cover of a book&#10;&#10;Description automatically generated"/>
          <p:cNvPicPr/>
          <p:nvPr/>
        </p:nvPicPr>
        <p:blipFill>
          <a:blip r:embed="rId2"/>
          <a:stretch/>
        </p:blipFill>
        <p:spPr>
          <a:xfrm>
            <a:off x="9664920" y="215640"/>
            <a:ext cx="2171880" cy="321300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  <p:pic>
        <p:nvPicPr>
          <p:cNvPr id="290" name="Picture 13" descr="A black and white drawing of a sailboat&#10;&#10;Description automatically generated"/>
          <p:cNvPicPr/>
          <p:nvPr/>
        </p:nvPicPr>
        <p:blipFill>
          <a:blip r:embed="rId3"/>
          <a:srcRect l="10845" t="11396" r="8718" b="10518"/>
          <a:stretch/>
        </p:blipFill>
        <p:spPr>
          <a:xfrm>
            <a:off x="7983360" y="211680"/>
            <a:ext cx="1681200" cy="163224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  <p:pic>
        <p:nvPicPr>
          <p:cNvPr id="291" name="Picture 15" descr=""/>
          <p:cNvPicPr/>
          <p:nvPr/>
        </p:nvPicPr>
        <p:blipFill>
          <a:blip r:embed="rId4"/>
          <a:stretch/>
        </p:blipFill>
        <p:spPr>
          <a:xfrm>
            <a:off x="8443440" y="3601800"/>
            <a:ext cx="3393360" cy="108072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  <p:pic>
        <p:nvPicPr>
          <p:cNvPr id="292" name="Picture 17" descr="A hand holding a piece of paper&#10;&#10;Description automatically generated"/>
          <p:cNvPicPr/>
          <p:nvPr/>
        </p:nvPicPr>
        <p:blipFill>
          <a:blip r:embed="rId5"/>
          <a:srcRect l="2976" t="1459" r="3117" b="1845"/>
          <a:stretch/>
        </p:blipFill>
        <p:spPr>
          <a:xfrm>
            <a:off x="8443440" y="4682520"/>
            <a:ext cx="3393360" cy="1960560"/>
          </a:xfrm>
          <a:prstGeom prst="rect">
            <a:avLst/>
          </a:prstGeom>
          <a:ln w="0">
            <a:noFill/>
          </a:ln>
          <a:effectLst>
            <a:softEdge rad="112680"/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1290</Words>
  <Paragraphs>186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2023-12-08T10:03:41Z</dcterms:created>
  <dc:creator>Paul Dubois</dc:creator>
  <dc:description/>
  <dc:language>en-US</dc:language>
  <cp:lastModifiedBy/>
  <dcterms:modified xsi:type="dcterms:W3CDTF">2026-10-08T10:46:54Z</dcterms:modified>
  <cp:revision>95</cp:revision>
  <dc:subject/>
  <dc:title>Do you understand where your models live?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  <property fmtid="{D5CDD505-2E9C-101B-9397-08002B2CF9AE}" pid="4" name="HiddenSlides">
    <vt:i4>4</vt:i4>
  </property>
  <property fmtid="{D5CDD505-2E9C-101B-9397-08002B2CF9AE}" pid="5" name="MSIP_Label_df116e0e-72df-4d64-8d95-ec79a49a5ebe_ActionId">
    <vt:lpwstr>6bdbcf87-ee49-483f-946f-7acb62ff9b6c</vt:lpwstr>
  </property>
  <property fmtid="{D5CDD505-2E9C-101B-9397-08002B2CF9AE}" pid="6" name="MSIP_Label_df116e0e-72df-4d64-8d95-ec79a49a5ebe_ContentBits">
    <vt:lpwstr>2</vt:lpwstr>
  </property>
  <property fmtid="{D5CDD505-2E9C-101B-9397-08002B2CF9AE}" pid="7" name="MSIP_Label_df116e0e-72df-4d64-8d95-ec79a49a5ebe_Enabled">
    <vt:lpwstr>true</vt:lpwstr>
  </property>
  <property fmtid="{D5CDD505-2E9C-101B-9397-08002B2CF9AE}" pid="8" name="MSIP_Label_df116e0e-72df-4d64-8d95-ec79a49a5ebe_Method">
    <vt:lpwstr>Standard</vt:lpwstr>
  </property>
  <property fmtid="{D5CDD505-2E9C-101B-9397-08002B2CF9AE}" pid="9" name="MSIP_Label_df116e0e-72df-4d64-8d95-ec79a49a5ebe_Name">
    <vt:lpwstr>Internal</vt:lpwstr>
  </property>
  <property fmtid="{D5CDD505-2E9C-101B-9397-08002B2CF9AE}" pid="10" name="MSIP_Label_df116e0e-72df-4d64-8d95-ec79a49a5ebe_SetDate">
    <vt:lpwstr>2023-12-08T10:08:20Z</vt:lpwstr>
  </property>
  <property fmtid="{D5CDD505-2E9C-101B-9397-08002B2CF9AE}" pid="11" name="MSIP_Label_df116e0e-72df-4d64-8d95-ec79a49a5ebe_SiteId">
    <vt:lpwstr>efa39904-64bd-4449-9e11-a0567cf564b6</vt:lpwstr>
  </property>
  <property fmtid="{D5CDD505-2E9C-101B-9397-08002B2CF9AE}" pid="12" name="Notes">
    <vt:i4>25</vt:i4>
  </property>
  <property fmtid="{D5CDD505-2E9C-101B-9397-08002B2CF9AE}" pid="13" name="PresentationFormat">
    <vt:lpwstr>Widescreen</vt:lpwstr>
  </property>
  <property fmtid="{D5CDD505-2E9C-101B-9397-08002B2CF9AE}" pid="14" name="Slides">
    <vt:i4>37</vt:i4>
  </property>
</Properties>
</file>