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3" Type="http://schemas.openxmlformats.org/officeDocument/2006/relationships/viewProps" Target="viewProps.xml" /><Relationship Id="rId6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5" Type="http://schemas.openxmlformats.org/officeDocument/2006/relationships/tableStyles" Target="tableStyles.xml" /><Relationship Id="rId6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0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5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6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7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8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4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6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7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8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9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0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1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2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3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Session 2</a:t>
            </a:r>
            <a:br/>
            <a:r>
              <a:rPr/>
              <a:t>Robust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Advanced Machine Learning · MSc DSBA · 2026</a:t>
            </a:r>
            <a:br/>
            <a:br/>
            <a:r>
              <a:rPr/>
              <a:t>Paul Dubois</a:t>
            </a:r>
            <a:br/>
            <a:br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Week 2 — Lecture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Reminders: linear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Regression</a:t>
            </a:r>
          </a:p>
        </p:txBody>
      </p:sp>
      <p:pic>
        <p:nvPicPr>
          <p:cNvPr descr="img/regression_sett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Use cases</a:t>
            </a:r>
          </a:p>
        </p:txBody>
      </p:sp>
      <p:pic>
        <p:nvPicPr>
          <p:cNvPr descr="img/regression_ap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Why a linear model?</a:t>
            </a:r>
          </a:p>
        </p:txBody>
      </p:sp>
      <p:pic>
        <p:nvPicPr>
          <p:cNvPr descr="img/why_linea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More columns: the line becomes a plane</a:t>
            </a:r>
          </a:p>
        </p:txBody>
      </p:sp>
      <p:pic>
        <p:nvPicPr>
          <p:cNvPr descr="img/linreg_mult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“Linear” means linear in the </a:t>
            </a:r>
            <a:r>
              <a:rPr i="1"/>
              <a:t>weights</a:t>
            </a:r>
          </a:p>
        </p:txBody>
      </p:sp>
      <p:pic>
        <p:nvPicPr>
          <p:cNvPr descr="img/linreg_ba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Model via matrix multiplication</a:t>
            </a:r>
          </a:p>
        </p:txBody>
      </p:sp>
      <p:pic>
        <p:nvPicPr>
          <p:cNvPr descr="img/eq_linear_mod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Least squares</a:t>
            </a:r>
          </a:p>
        </p:txBody>
      </p:sp>
      <p:pic>
        <p:nvPicPr>
          <p:cNvPr descr="img/ls_residu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Analytical solution</a:t>
            </a:r>
          </a:p>
        </p:txBody>
      </p:sp>
      <p:pic>
        <p:nvPicPr>
          <p:cNvPr descr="img/eq_normal_equat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the solution is doing</a:t>
            </a:r>
          </a:p>
        </p:txBody>
      </p:sp>
      <p:pic>
        <p:nvPicPr>
          <p:cNvPr descr="img/hat_matri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Repeated information</a:t>
            </a:r>
          </a:p>
        </p:txBody>
      </p:sp>
      <p:pic>
        <p:nvPicPr>
          <p:cNvPr descr="img/collinear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Loss with a flat valley</a:t>
            </a:r>
          </a:p>
        </p:txBody>
      </p:sp>
      <p:pic>
        <p:nvPicPr>
          <p:cNvPr descr="img/collinear_valle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Detecting in practice</a:t>
            </a:r>
          </a:p>
        </p:txBody>
      </p:sp>
      <p:pic>
        <p:nvPicPr>
          <p:cNvPr descr="img/near_collinea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How precise is the estimate?</a:t>
            </a:r>
          </a:p>
        </p:txBody>
      </p:sp>
      <p:pic>
        <p:nvPicPr>
          <p:cNvPr descr="img/ls_vari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Regularized regression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When d gets large</a:t>
            </a:r>
          </a:p>
        </p:txBody>
      </p:sp>
      <p:pic>
        <p:nvPicPr>
          <p:cNvPr descr="img/high_di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Add a penalty</a:t>
            </a:r>
          </a:p>
        </p:txBody>
      </p:sp>
      <p:pic>
        <p:nvPicPr>
          <p:cNvPr descr="img/eq_regulariz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Three penalties</a:t>
            </a:r>
          </a:p>
        </p:txBody>
      </p:sp>
      <p:pic>
        <p:nvPicPr>
          <p:cNvPr descr="img/penalty_zo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Penalties behavior</a:t>
            </a:r>
          </a:p>
        </p:txBody>
      </p:sp>
      <p:pic>
        <p:nvPicPr>
          <p:cNvPr descr="img/penalty_geometr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Effect of λ</a:t>
            </a:r>
          </a:p>
        </p:txBody>
      </p:sp>
      <p:pic>
        <p:nvPicPr>
          <p:cNvPr descr="img/lambda_pat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Effect of λ</a:t>
            </a:r>
          </a:p>
        </p:txBody>
      </p:sp>
      <p:pic>
        <p:nvPicPr>
          <p:cNvPr descr="img/threshold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Handling non-differentiable penalty</a:t>
            </a:r>
          </a:p>
        </p:txBody>
      </p:sp>
      <p:pic>
        <p:nvPicPr>
          <p:cNvPr descr="img/prox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proximal step</a:t>
            </a:r>
          </a:p>
        </p:txBody>
      </p:sp>
      <p:pic>
        <p:nvPicPr>
          <p:cNvPr descr="img/eq_pro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Robust regression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Outliers</a:t>
            </a:r>
          </a:p>
        </p:txBody>
      </p:sp>
      <p:pic>
        <p:nvPicPr>
          <p:cNvPr descr="img/outlier_dem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Why squares break</a:t>
            </a:r>
          </a:p>
        </p:txBody>
      </p:sp>
      <p:pic>
        <p:nvPicPr>
          <p:cNvPr descr="img/squared_loss_p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Robustness vs complexity</a:t>
            </a:r>
          </a:p>
        </p:txBody>
      </p:sp>
      <p:pic>
        <p:nvPicPr>
          <p:cNvPr descr="img/outliers_vs_mismodell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Likelihood to M-estimation</a:t>
            </a:r>
          </a:p>
        </p:txBody>
      </p:sp>
      <p:pic>
        <p:nvPicPr>
          <p:cNvPr descr="img/eq_m_estim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Loss ~ Noise model</a:t>
            </a:r>
          </a:p>
        </p:txBody>
      </p:sp>
      <p:pic>
        <p:nvPicPr>
          <p:cNvPr descr="img/rho_from_dens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Robust regression</a:t>
            </a:r>
          </a:p>
        </p:txBody>
      </p:sp>
      <p:pic>
        <p:nvPicPr>
          <p:cNvPr descr="img/eq_robust_regress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Possible ρ</a:t>
            </a:r>
          </a:p>
        </p:txBody>
      </p:sp>
      <p:pic>
        <p:nvPicPr>
          <p:cNvPr descr="img/rho_zo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δ parameter</a:t>
            </a:r>
          </a:p>
        </p:txBody>
      </p:sp>
      <p:pic>
        <p:nvPicPr>
          <p:cNvPr descr="img/delta_mean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δ effect on residual scale</a:t>
            </a:r>
          </a:p>
        </p:txBody>
      </p:sp>
      <p:pic>
        <p:nvPicPr>
          <p:cNvPr descr="img/delta_sca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Choosing δ</a:t>
            </a:r>
          </a:p>
        </p:txBody>
      </p:sp>
      <p:pic>
        <p:nvPicPr>
          <p:cNvPr descr="img/tuning_del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Derivative of ρ</a:t>
            </a:r>
          </a:p>
        </p:txBody>
      </p:sp>
      <p:pic>
        <p:nvPicPr>
          <p:cNvPr descr="img/eq_stationar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Interpret as weights</a:t>
            </a:r>
          </a:p>
        </p:txBody>
      </p:sp>
      <p:pic>
        <p:nvPicPr>
          <p:cNvPr descr="img/eq_weigh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Influence of a point</a:t>
            </a:r>
          </a:p>
        </p:txBody>
      </p:sp>
      <p:pic>
        <p:nvPicPr>
          <p:cNvPr descr="img/influence_dem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Influence and weight</a:t>
            </a:r>
          </a:p>
        </p:txBody>
      </p:sp>
      <p:pic>
        <p:nvPicPr>
          <p:cNvPr descr="img/psi_and_weigh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Weights &amp; data</a:t>
            </a:r>
          </a:p>
        </p:txBody>
      </p:sp>
      <p:pic>
        <p:nvPicPr>
          <p:cNvPr descr="img/weights_o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IRLS algorithm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Fixed point</a:t>
            </a:r>
          </a:p>
        </p:txBody>
      </p:sp>
      <p:pic>
        <p:nvPicPr>
          <p:cNvPr descr="img/eq_ir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IRLS loop</a:t>
            </a:r>
          </a:p>
        </p:txBody>
      </p:sp>
      <p:pic>
        <p:nvPicPr>
          <p:cNvPr descr="img/irls_loo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IRLS step by step</a:t>
            </a:r>
          </a:p>
        </p:txBody>
      </p:sp>
      <p:pic>
        <p:nvPicPr>
          <p:cNvPr descr="img/irls_ste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IRLS algorithm</a:t>
            </a:r>
          </a:p>
        </p:txBody>
      </p:sp>
      <p:pic>
        <p:nvPicPr>
          <p:cNvPr descr="img/irls_algorith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Algorithm approximation</a:t>
            </a:r>
          </a:p>
        </p:txBody>
      </p:sp>
      <p:pic>
        <p:nvPicPr>
          <p:cNvPr descr="img/mm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ρ requirements for convergence</a:t>
            </a:r>
          </a:p>
        </p:txBody>
      </p:sp>
      <p:pic>
        <p:nvPicPr>
          <p:cNvPr descr="img/eq_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Recap</a:t>
            </a:r>
          </a:p>
        </p:txBody>
      </p:sp>
      <p:pic>
        <p:nvPicPr>
          <p:cNvPr descr="img/robust_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Logistic regression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From regression to classification</a:t>
            </a:r>
          </a:p>
        </p:txBody>
      </p:sp>
      <p:pic>
        <p:nvPicPr>
          <p:cNvPr descr="img/logistic_sett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Why not least squares on the labels?</a:t>
            </a:r>
          </a:p>
        </p:txBody>
      </p:sp>
      <p:pic>
        <p:nvPicPr>
          <p:cNvPr descr="img/why_not_least_squar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sigmoid</a:t>
            </a:r>
          </a:p>
        </p:txBody>
      </p:sp>
      <p:pic>
        <p:nvPicPr>
          <p:cNvPr descr="img/sigmoi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log-odds</a:t>
            </a:r>
          </a:p>
        </p:txBody>
      </p:sp>
      <p:pic>
        <p:nvPicPr>
          <p:cNvPr descr="img/eq_logodd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More than two classes</a:t>
            </a:r>
          </a:p>
        </p:txBody>
      </p:sp>
      <p:pic>
        <p:nvPicPr>
          <p:cNvPr descr="img/eq_softma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loss</a:t>
            </a:r>
          </a:p>
        </p:txBody>
      </p:sp>
      <p:pic>
        <p:nvPicPr>
          <p:cNvPr descr="img/logistic_lo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Fitting</a:t>
            </a:r>
          </a:p>
        </p:txBody>
      </p:sp>
      <p:pic>
        <p:nvPicPr>
          <p:cNvPr descr="img/eq_logistic_ir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IRLS quadratic approximation</a:t>
            </a:r>
          </a:p>
        </p:txBody>
      </p:sp>
      <p:pic>
        <p:nvPicPr>
          <p:cNvPr descr="img/logistic_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Logistic regression, step by step</a:t>
            </a:r>
          </a:p>
        </p:txBody>
      </p:sp>
      <p:pic>
        <p:nvPicPr>
          <p:cNvPr descr="img/logistic_fi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logistic regression is worth</a:t>
            </a:r>
          </a:p>
        </p:txBody>
      </p:sp>
      <p:pic>
        <p:nvPicPr>
          <p:cNvPr descr="img/logistic_pro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Next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lvl="0" indent="0" marL="0" algn="ctr">
              <a:buNone/>
            </a:pPr>
            <a:r>
              <a:rPr sz="2000"/>
              <a:t>Support vector machines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 Robust Regression</dc:title>
  <dc:creator/>
  <cp:keywords/>
  <dcterms:created xsi:type="dcterms:W3CDTF">2026-10-08T08:34:22Z</dcterms:created>
  <dcterms:modified xsi:type="dcterms:W3CDTF">2026-10-08T08:34:22Z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Week 2 — Lecture</vt:lpwstr>
  </property>
  <property fmtid="{D5CDD505-2E9C-101B-9397-08002B2CF9AE}" pid="3" name="subtitle">
    <vt:lpwstr>Advanced Machine Learning · MSc DSBA · 2026  Paul Dubois</vt:lpwstr>
  </property>
</Properties>
</file>