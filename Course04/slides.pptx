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1" Type="http://schemas.openxmlformats.org/officeDocument/2006/relationships/viewProps" Target="viewProps.xml" /><Relationship Id="rId8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3" Type="http://schemas.openxmlformats.org/officeDocument/2006/relationships/tableStyles" Target="tableStyles.xml" /><Relationship Id="rId8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1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2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3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5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6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7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8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9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0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1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2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3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4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5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6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7.pn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8.png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9.pn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0.png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1.png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2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3.png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4.png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5.png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6.png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7.png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8.png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9.png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0.png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1.png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2.png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3.png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4.png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5.png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1.png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6.png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7.png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8.png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Session 4</a:t>
            </a:r>
            <a:br/>
            <a:r>
              <a:rPr/>
              <a:t>Clustering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Advanced Machine Learning · MSc DSBA · 2026</a:t>
            </a:r>
            <a:br/>
            <a:br/>
            <a:r>
              <a:rPr/>
              <a:t>Paul Dubois</a:t>
            </a: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Week 4 — Lecture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What is clustering?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No labels</a:t>
            </a:r>
          </a:p>
        </p:txBody>
      </p:sp>
      <p:pic>
        <p:nvPicPr>
          <p:cNvPr descr="img/clustering_sett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Two ways to simplify a table</a:t>
            </a:r>
          </a:p>
        </p:txBody>
      </p:sp>
      <p:pic>
        <p:nvPicPr>
          <p:cNvPr descr="img/clustering_vs_dimr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Use cases</a:t>
            </a:r>
          </a:p>
        </p:txBody>
      </p:sp>
      <p:pic>
        <p:nvPicPr>
          <p:cNvPr descr="img/clustering_ap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What a cluster can mean</a:t>
            </a:r>
          </a:p>
        </p:txBody>
      </p:sp>
      <p:pic>
        <p:nvPicPr>
          <p:cNvPr descr="img/cluster_typ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Partitional or hierarchical</a:t>
            </a:r>
          </a:p>
        </p:txBody>
      </p:sp>
      <p:pic>
        <p:nvPicPr>
          <p:cNvPr descr="img/partitional_vs_hierarchic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Exclusive or overlapping</a:t>
            </a:r>
          </a:p>
        </p:txBody>
      </p:sp>
      <p:pic>
        <p:nvPicPr>
          <p:cNvPr descr="img/exclusive_vs_overlapp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Hard or fuzzy</a:t>
            </a:r>
          </a:p>
        </p:txBody>
      </p:sp>
      <p:pic>
        <p:nvPicPr>
          <p:cNvPr descr="img/hard_vs_fuzz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Complete or partial</a:t>
            </a:r>
          </a:p>
        </p:txBody>
      </p:sp>
      <p:pic>
        <p:nvPicPr>
          <p:cNvPr descr="img/complete_vs_parti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Homogeneous or heterogeneous</a:t>
            </a:r>
          </a:p>
        </p:txBody>
      </p:sp>
      <p:pic>
        <p:nvPicPr>
          <p:cNvPr descr="img/homogeneous_vs_heterogeneo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Choice of algorithm assumes</a:t>
            </a:r>
          </a:p>
        </p:txBody>
      </p:sp>
      <p:pic>
        <p:nvPicPr>
          <p:cNvPr descr="img/cluster_distinc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Distance and dissimilarity</a:t>
            </a:r>
          </a:p>
        </p:txBody>
      </p:sp>
      <p:pic>
        <p:nvPicPr>
          <p:cNvPr descr="img/eq_dissimilar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Distances examples</a:t>
            </a:r>
          </a:p>
        </p:txBody>
      </p:sp>
      <p:pic>
        <p:nvPicPr>
          <p:cNvPr descr="img/distance_zo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Hamming: a distance for categories</a:t>
            </a:r>
          </a:p>
        </p:txBody>
      </p:sp>
      <p:pic>
        <p:nvPicPr>
          <p:cNvPr descr="img/hamming_dist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Distances between groups</a:t>
            </a:r>
          </a:p>
        </p:txBody>
      </p:sp>
      <p:pic>
        <p:nvPicPr>
          <p:cNvPr descr="img/linkage_defini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Clustering quality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Within and between</a:t>
            </a:r>
          </a:p>
        </p:txBody>
      </p:sp>
      <p:pic>
        <p:nvPicPr>
          <p:cNvPr descr="img/eq_inerti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What a good clustering looks like</a:t>
            </a:r>
          </a:p>
        </p:txBody>
      </p:sp>
      <p:pic>
        <p:nvPicPr>
          <p:cNvPr descr="img/good_cluster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K-means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objective</a:t>
            </a:r>
          </a:p>
        </p:txBody>
      </p:sp>
      <p:pic>
        <p:nvPicPr>
          <p:cNvPr descr="img/eq_kmea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Lloyd’s algorithm</a:t>
            </a:r>
          </a:p>
        </p:txBody>
      </p:sp>
      <p:pic>
        <p:nvPicPr>
          <p:cNvPr descr="img/kmeans_algorith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Inertia</a:t>
            </a:r>
          </a:p>
        </p:txBody>
      </p:sp>
      <p:pic>
        <p:nvPicPr>
          <p:cNvPr descr="img/inertia_defin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Random results</a:t>
            </a:r>
          </a:p>
        </p:txBody>
      </p:sp>
      <p:pic>
        <p:nvPicPr>
          <p:cNvPr descr="img/kmeans_ini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k-means fails with</a:t>
            </a:r>
          </a:p>
        </p:txBody>
      </p:sp>
      <p:pic>
        <p:nvPicPr>
          <p:cNvPr descr="img/kmeans_limi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Variants</a:t>
            </a:r>
          </a:p>
        </p:txBody>
      </p:sp>
      <p:pic>
        <p:nvPicPr>
          <p:cNvPr descr="img/kmeans_alternativ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Mountain and subtractive clustering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Clusters as peaks of a landscape</a:t>
            </a:r>
          </a:p>
        </p:txBody>
      </p:sp>
      <p:pic>
        <p:nvPicPr>
          <p:cNvPr descr="img/mountain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Mountain function</a:t>
            </a:r>
          </a:p>
        </p:txBody>
      </p:sp>
      <p:pic>
        <p:nvPicPr>
          <p:cNvPr descr="img/eq_mounta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Take a peak, flatten it, repeat</a:t>
            </a:r>
          </a:p>
        </p:txBody>
      </p:sp>
      <p:pic>
        <p:nvPicPr>
          <p:cNvPr descr="img/mountain_ste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Dropping the grid</a:t>
            </a:r>
          </a:p>
        </p:txBody>
      </p:sp>
      <p:pic>
        <p:nvPicPr>
          <p:cNvPr descr="img/subtractive_cluster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Pros and cons</a:t>
            </a:r>
          </a:p>
        </p:txBody>
      </p:sp>
      <p:pic>
        <p:nvPicPr>
          <p:cNvPr descr="img/mountain_pro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Hierarchical clustering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Representing clusters inside clusters</a:t>
            </a:r>
          </a:p>
        </p:txBody>
      </p:sp>
      <p:pic>
        <p:nvPicPr>
          <p:cNvPr descr="img/hierarchy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Agglomerative, one merge at a time</a:t>
            </a:r>
          </a:p>
        </p:txBody>
      </p:sp>
      <p:pic>
        <p:nvPicPr>
          <p:cNvPr descr="img/agglomerative_ste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Cutting the dendrogram</a:t>
            </a:r>
          </a:p>
        </p:txBody>
      </p:sp>
      <p:pic>
        <p:nvPicPr>
          <p:cNvPr descr="img/dendrogram_cu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Ward: the cost of a merge</a:t>
            </a:r>
          </a:p>
        </p:txBody>
      </p:sp>
      <p:pic>
        <p:nvPicPr>
          <p:cNvPr descr="img/ward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Moving the reference point</a:t>
            </a:r>
          </a:p>
        </p:txBody>
      </p:sp>
      <p:pic>
        <p:nvPicPr>
          <p:cNvPr descr="img/eq_huyge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Where the Ward formula comes from</a:t>
            </a:r>
          </a:p>
        </p:txBody>
      </p:sp>
      <p:pic>
        <p:nvPicPr>
          <p:cNvPr descr="img/eq_ward_proo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Ward distance</a:t>
            </a:r>
          </a:p>
        </p:txBody>
      </p:sp>
      <p:pic>
        <p:nvPicPr>
          <p:cNvPr descr="img/eq_w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Every merge changes every distance</a:t>
            </a:r>
          </a:p>
        </p:txBody>
      </p:sp>
      <p:pic>
        <p:nvPicPr>
          <p:cNvPr descr="img/linkage_upd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WPGMA: Weighted Pair Group Method with Arithmetic mean</a:t>
            </a:r>
          </a:p>
        </p:txBody>
      </p:sp>
      <p:pic>
        <p:nvPicPr>
          <p:cNvPr descr="img/wpgm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Unweighted Pair Group Method with Arithmetic mean</a:t>
            </a:r>
          </a:p>
        </p:txBody>
      </p:sp>
      <p:pic>
        <p:nvPicPr>
          <p:cNvPr descr="img/wpgma_vs_upgm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Four linkages</a:t>
            </a:r>
          </a:p>
        </p:txBody>
      </p:sp>
      <p:pic>
        <p:nvPicPr>
          <p:cNvPr descr="img/linkage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Four linkages</a:t>
            </a:r>
          </a:p>
        </p:txBody>
      </p:sp>
      <p:pic>
        <p:nvPicPr>
          <p:cNvPr descr="img/linkage_dendrogra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Which linkage to use</a:t>
            </a:r>
          </a:p>
        </p:txBody>
      </p:sp>
      <p:pic>
        <p:nvPicPr>
          <p:cNvPr descr="img/linkage_pro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Tree</a:t>
            </a:r>
          </a:p>
        </p:txBody>
      </p:sp>
      <p:pic>
        <p:nvPicPr>
          <p:cNvPr descr="img/hierarchical_pro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DBSCAN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Neighborhood and crowdedness</a:t>
            </a:r>
          </a:p>
        </p:txBody>
      </p:sp>
      <p:pic>
        <p:nvPicPr>
          <p:cNvPr descr="img/dbscan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Core, border, noise</a:t>
            </a:r>
          </a:p>
        </p:txBody>
      </p:sp>
      <p:pic>
        <p:nvPicPr>
          <p:cNvPr descr="img/dbscan_poin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Algorithm</a:t>
            </a:r>
          </a:p>
        </p:txBody>
      </p:sp>
      <p:pic>
        <p:nvPicPr>
          <p:cNvPr descr="img/dbscan_algorith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Effect of ε</a:t>
            </a:r>
          </a:p>
        </p:txBody>
      </p:sp>
      <p:pic>
        <p:nvPicPr>
          <p:cNvPr descr="img/dbscan_epsil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Reading ε off the k-NN curve</a:t>
            </a:r>
          </a:p>
        </p:txBody>
      </p:sp>
      <p:pic>
        <p:nvPicPr>
          <p:cNvPr descr="img/dbscan_knn_elb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Effect of MinPts</a:t>
            </a:r>
          </a:p>
        </p:txBody>
      </p:sp>
      <p:pic>
        <p:nvPicPr>
          <p:cNvPr descr="img/dbscan_minp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Shapes k-means cannot reach</a:t>
            </a:r>
          </a:p>
        </p:txBody>
      </p:sp>
      <p:pic>
        <p:nvPicPr>
          <p:cNvPr descr="img/dbscan_vs_kmea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DBSCAN</a:t>
            </a:r>
          </a:p>
        </p:txBody>
      </p:sp>
      <p:pic>
        <p:nvPicPr>
          <p:cNvPr descr="img/dbscan_pro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HDBSCAN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DBSCAN at every scale at once</a:t>
            </a:r>
          </a:p>
        </p:txBody>
      </p:sp>
      <p:pic>
        <p:nvPicPr>
          <p:cNvPr descr="img/hdbscan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Six steps</a:t>
            </a:r>
          </a:p>
        </p:txBody>
      </p:sp>
      <p:pic>
        <p:nvPicPr>
          <p:cNvPr descr="img/hdbscan_ste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Step 1: measure the density</a:t>
            </a:r>
          </a:p>
        </p:txBody>
      </p:sp>
      <p:pic>
        <p:nvPicPr>
          <p:cNvPr descr="img/core_dist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Step 2: transform the space</a:t>
            </a:r>
          </a:p>
        </p:txBody>
      </p:sp>
      <p:pic>
        <p:nvPicPr>
          <p:cNvPr descr="img/eq_mutual_reachabil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Step 2: a worked example</a:t>
            </a:r>
          </a:p>
        </p:txBody>
      </p:sp>
      <p:pic>
        <p:nvPicPr>
          <p:cNvPr descr="img/mreach_examp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Step 2: why the maximum</a:t>
            </a:r>
          </a:p>
        </p:txBody>
      </p:sp>
      <p:pic>
        <p:nvPicPr>
          <p:cNvPr descr="img/mreach_intu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What the new distance does</a:t>
            </a:r>
          </a:p>
        </p:txBody>
      </p:sp>
      <p:pic>
        <p:nvPicPr>
          <p:cNvPr descr="img/mreach_eff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Step 3: the minimum spanning tree</a:t>
            </a:r>
          </a:p>
        </p:txBody>
      </p:sp>
      <p:pic>
        <p:nvPicPr>
          <p:cNvPr descr="img/mst_ste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Step 3: how the tree is built</a:t>
            </a:r>
          </a:p>
        </p:txBody>
      </p:sp>
      <p:pic>
        <p:nvPicPr>
          <p:cNvPr descr="img/mst_buil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Step 4: cluster hierarchy</a:t>
            </a:r>
          </a:p>
        </p:txBody>
      </p:sp>
      <p:pic>
        <p:nvPicPr>
          <p:cNvPr descr="img/mst_to_hierarch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Step 4 on real data</a:t>
            </a:r>
          </a:p>
        </p:txBody>
      </p:sp>
      <p:pic>
        <p:nvPicPr>
          <p:cNvPr descr="img/hdbscan_hierarch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Step 5: condense the tree</a:t>
            </a:r>
          </a:p>
        </p:txBody>
      </p:sp>
      <p:pic>
        <p:nvPicPr>
          <p:cNvPr descr="img/condense_examp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Step 5 on real data</a:t>
            </a:r>
          </a:p>
        </p:txBody>
      </p:sp>
      <p:pic>
        <p:nvPicPr>
          <p:cNvPr descr="img/condensed_tre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Stability</a:t>
            </a:r>
          </a:p>
        </p:txBody>
      </p:sp>
      <p:pic>
        <p:nvPicPr>
          <p:cNvPr descr="img/stability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Stability example</a:t>
            </a:r>
          </a:p>
        </p:txBody>
      </p:sp>
      <p:pic>
        <p:nvPicPr>
          <p:cNvPr descr="img/stability_examp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Step 6: keep the stable clusters</a:t>
            </a:r>
          </a:p>
        </p:txBody>
      </p:sp>
      <p:pic>
        <p:nvPicPr>
          <p:cNvPr descr="img/extract_examp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Six steps</a:t>
            </a:r>
          </a:p>
        </p:txBody>
      </p:sp>
      <p:pic>
        <p:nvPicPr>
          <p:cNvPr descr="img/hdbscan_ste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Dataset with multiple densities</a:t>
            </a:r>
          </a:p>
        </p:txBody>
      </p:sp>
      <p:pic>
        <p:nvPicPr>
          <p:cNvPr descr="img/hdbscan_resul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HDBSCAN</a:t>
            </a:r>
          </a:p>
        </p:txBody>
      </p:sp>
      <p:pic>
        <p:nvPicPr>
          <p:cNvPr descr="img/hdbscan_pro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Four methods on four datasets</a:t>
            </a:r>
          </a:p>
        </p:txBody>
      </p:sp>
      <p:pic>
        <p:nvPicPr>
          <p:cNvPr descr="img/algo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map</a:t>
            </a:r>
          </a:p>
        </p:txBody>
      </p:sp>
      <p:pic>
        <p:nvPicPr>
          <p:cNvPr descr="img/clustering_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 Clustering</dc:title>
  <dc:creator/>
  <cp:keywords/>
  <dcterms:created xsi:type="dcterms:W3CDTF">2026-10-14T15:27:49Z</dcterms:created>
  <dcterms:modified xsi:type="dcterms:W3CDTF">2026-10-14T15:27:49Z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Week 4 — Lecture</vt:lpwstr>
  </property>
  <property fmtid="{D5CDD505-2E9C-101B-9397-08002B2CF9AE}" pid="3" name="subtitle">
    <vt:lpwstr>Advanced Machine Learning · MSc DSBA · 2026  Paul Dubois</vt:lpwstr>
  </property>
</Properties>
</file>