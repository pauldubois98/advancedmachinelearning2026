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1" Type="http://schemas.openxmlformats.org/officeDocument/2006/relationships/viewProps" Target="viewProps.xml" /><Relationship Id="rId8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3" Type="http://schemas.openxmlformats.org/officeDocument/2006/relationships/tableStyles" Target="tableStyles.xml" /><Relationship Id="rId8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7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8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9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0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1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2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3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4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5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6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7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8.pn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9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0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1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2.pn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3.png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4.png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5.png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6.png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7.png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8.png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9.png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0.png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1.png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2.png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3.png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4.png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5.png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6.png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7.png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8.png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9.png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0.png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1.png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2.png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3.png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4.png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5.png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6.png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7.png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8.png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9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Session 6</a:t>
            </a:r>
            <a:br/>
            <a:r>
              <a:rPr/>
              <a:t>Mixture Models and Expectation-Maximization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Advanced Machine Learning · MSc DSBA · 2026</a:t>
            </a:r>
            <a:br/>
            <a:br/>
            <a:r>
              <a:rPr/>
              <a:t>Paul Dubois</a:t>
            </a:r>
            <a:br/>
            <a:br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Week 6 — Lecture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 mixture of populations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Two regimes in one sample</a:t>
            </a:r>
          </a:p>
        </p:txBody>
      </p:sp>
      <p:pic>
        <p:nvPicPr>
          <p:cNvPr descr="img/mixture_ide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One bell is not enough</a:t>
            </a:r>
          </a:p>
        </p:txBody>
      </p:sp>
      <p:pic>
        <p:nvPicPr>
          <p:cNvPr descr="img/one_gaussian_fai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Where mixtures come up</a:t>
            </a:r>
          </a:p>
        </p:txBody>
      </p:sp>
      <p:pic>
        <p:nvPicPr>
          <p:cNvPr descr="img/mixture_app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Mixture density</a:t>
            </a:r>
          </a:p>
        </p:txBody>
      </p:sp>
      <p:pic>
        <p:nvPicPr>
          <p:cNvPr descr="img/eq_mix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Latent variable</a:t>
            </a:r>
          </a:p>
        </p:txBody>
      </p:sp>
      <p:pic>
        <p:nvPicPr>
          <p:cNvPr descr="img/latent_ide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Simulating mixture</a:t>
            </a:r>
          </a:p>
        </p:txBody>
      </p:sp>
      <p:pic>
        <p:nvPicPr>
          <p:cNvPr descr="img/generative_si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Two components case</a:t>
            </a:r>
          </a:p>
        </p:txBody>
      </p:sp>
      <p:pic>
        <p:nvPicPr>
          <p:cNvPr descr="img/eq_two_compon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 fitted model is</a:t>
            </a:r>
          </a:p>
        </p:txBody>
      </p:sp>
      <p:pic>
        <p:nvPicPr>
          <p:cNvPr descr="img/density_vs_cluster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Key questions</a:t>
            </a:r>
          </a:p>
        </p:txBody>
      </p:sp>
      <p:pic>
        <p:nvPicPr>
          <p:cNvPr descr="img/key_questio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What a Gaussian mixture can model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model</a:t>
            </a:r>
          </a:p>
        </p:txBody>
      </p:sp>
      <p:pic>
        <p:nvPicPr>
          <p:cNvPr descr="img/eq_gm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Sums of normals</a:t>
            </a:r>
          </a:p>
        </p:txBody>
      </p:sp>
      <p:pic>
        <p:nvPicPr>
          <p:cNvPr descr="img/gmm_zo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Effect of growing K</a:t>
            </a:r>
          </a:p>
        </p:txBody>
      </p:sp>
      <p:pic>
        <p:nvPicPr>
          <p:cNvPr descr="img/gmm_flexib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In d dimensions</a:t>
            </a:r>
          </a:p>
        </p:txBody>
      </p:sp>
      <p:pic>
        <p:nvPicPr>
          <p:cNvPr descr="img/eq_gmm_multivaria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Shapes of the covariance</a:t>
            </a:r>
          </a:p>
        </p:txBody>
      </p:sp>
      <p:pic>
        <p:nvPicPr>
          <p:cNvPr descr="img/covariance_shap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Counting parameters</a:t>
            </a:r>
          </a:p>
        </p:txBody>
      </p:sp>
      <p:pic>
        <p:nvPicPr>
          <p:cNvPr descr="img/gmm_param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Mixture relabeled</a:t>
            </a:r>
          </a:p>
        </p:txBody>
      </p:sp>
      <p:pic>
        <p:nvPicPr>
          <p:cNvPr descr="img/identifiabil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Simulation / Estimation asymmetry</a:t>
            </a:r>
          </a:p>
        </p:txBody>
      </p:sp>
      <p:pic>
        <p:nvPicPr>
          <p:cNvPr descr="img/eq_simul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Fitting by maximum likelihood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Likelihood of observed data</a:t>
            </a:r>
          </a:p>
        </p:txBody>
      </p:sp>
      <p:pic>
        <p:nvPicPr>
          <p:cNvPr descr="img/eq_logli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Sum inside the log</a:t>
            </a:r>
          </a:p>
        </p:txBody>
      </p:sp>
      <p:pic>
        <p:nvPicPr>
          <p:cNvPr descr="img/why_h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Surface of likelihood</a:t>
            </a:r>
          </a:p>
        </p:txBody>
      </p:sp>
      <p:pic>
        <p:nvPicPr>
          <p:cNvPr descr="img/loglik_landscap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Likelihood is unbounded</a:t>
            </a:r>
          </a:p>
        </p:txBody>
      </p:sp>
      <p:pic>
        <p:nvPicPr>
          <p:cNvPr descr="img/degenerac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If we knew the labels</a:t>
            </a:r>
          </a:p>
        </p:txBody>
      </p:sp>
      <p:pic>
        <p:nvPicPr>
          <p:cNvPr descr="img/complete_data_ide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Complete-data likelihood splits</a:t>
            </a:r>
          </a:p>
        </p:txBody>
      </p:sp>
      <p:pic>
        <p:nvPicPr>
          <p:cNvPr descr="img/eq_complete_logli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Closed form class by class</a:t>
            </a:r>
          </a:p>
        </p:txBody>
      </p:sp>
      <p:pic>
        <p:nvPicPr>
          <p:cNvPr descr="img/eq_complete_m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Class probabilities from the fit</a:t>
            </a:r>
          </a:p>
        </p:txBody>
      </p:sp>
      <p:pic>
        <p:nvPicPr>
          <p:cNvPr descr="img/posterior_pointwi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Along axis</a:t>
            </a:r>
          </a:p>
        </p:txBody>
      </p:sp>
      <p:pic>
        <p:nvPicPr>
          <p:cNvPr descr="img/posterior_curv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Chicken and egg</a:t>
            </a:r>
          </a:p>
        </p:txBody>
      </p:sp>
      <p:pic>
        <p:nvPicPr>
          <p:cNvPr descr="img/chicken_eg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Responsibilities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Bayes (reminder)</a:t>
            </a:r>
          </a:p>
        </p:txBody>
      </p:sp>
      <p:pic>
        <p:nvPicPr>
          <p:cNvPr descr="img/bayes_remin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Posterior over the label</a:t>
            </a:r>
          </a:p>
        </p:txBody>
      </p:sp>
      <p:pic>
        <p:nvPicPr>
          <p:cNvPr descr="img/eq_responsibil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Responsibility</a:t>
            </a:r>
          </a:p>
        </p:txBody>
      </p:sp>
      <p:pic>
        <p:nvPicPr>
          <p:cNvPr descr="img/responsibility_pi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Responsibility as a matrix</a:t>
            </a:r>
          </a:p>
        </p:txBody>
      </p:sp>
      <p:pic>
        <p:nvPicPr>
          <p:cNvPr descr="img/responsibility_matri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Soft and hard</a:t>
            </a:r>
          </a:p>
        </p:txBody>
      </p:sp>
      <p:pic>
        <p:nvPicPr>
          <p:cNvPr descr="img/soft_vs_h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Expectation-Maximization algorithm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Alternate</a:t>
            </a:r>
          </a:p>
        </p:txBody>
      </p:sp>
      <p:pic>
        <p:nvPicPr>
          <p:cNvPr descr="img/em_ide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Expectation–Maximization</a:t>
            </a:r>
          </a:p>
        </p:txBody>
      </p:sp>
      <p:pic>
        <p:nvPicPr>
          <p:cNvPr descr="img/em_algorith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E-step</a:t>
            </a:r>
          </a:p>
        </p:txBody>
      </p:sp>
      <p:pic>
        <p:nvPicPr>
          <p:cNvPr descr="img/em_este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M-step</a:t>
            </a:r>
          </a:p>
        </p:txBody>
      </p:sp>
      <p:pic>
        <p:nvPicPr>
          <p:cNvPr descr="img/em_mste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Weighted by responsibility</a:t>
            </a:r>
          </a:p>
        </p:txBody>
      </p:sp>
      <p:pic>
        <p:nvPicPr>
          <p:cNvPr descr="img/eq_em_mste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Example run</a:t>
            </a:r>
          </a:p>
        </p:txBody>
      </p:sp>
      <p:pic>
        <p:nvPicPr>
          <p:cNvPr descr="img/em_ru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Same run</a:t>
            </a:r>
          </a:p>
        </p:txBody>
      </p:sp>
      <p:pic>
        <p:nvPicPr>
          <p:cNvPr descr="img/em_run_2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Likelihood evolution</a:t>
            </a:r>
          </a:p>
        </p:txBody>
      </p:sp>
      <p:pic>
        <p:nvPicPr>
          <p:cNvPr descr="img/em_monoto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Cost per pass</a:t>
            </a:r>
          </a:p>
        </p:txBody>
      </p:sp>
      <p:pic>
        <p:nvPicPr>
          <p:cNvPr descr="img/em_co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Why it works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EM alternate view</a:t>
            </a:r>
          </a:p>
        </p:txBody>
      </p:sp>
      <p:pic>
        <p:nvPicPr>
          <p:cNvPr descr="img/em_two_view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Splitting the log-likelihood</a:t>
            </a:r>
          </a:p>
        </p:txBody>
      </p:sp>
      <p:pic>
        <p:nvPicPr>
          <p:cNvPr descr="img/eq_elb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Lower bound on the log-likelihood</a:t>
            </a:r>
          </a:p>
        </p:txBody>
      </p:sp>
      <p:pic>
        <p:nvPicPr>
          <p:cNvPr descr="img/eq_elbo_g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Jensen step</a:t>
            </a:r>
          </a:p>
        </p:txBody>
      </p:sp>
      <p:pic>
        <p:nvPicPr>
          <p:cNvPr descr="img/jensen_ste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Jensen inequality</a:t>
            </a:r>
          </a:p>
        </p:txBody>
      </p:sp>
      <p:pic>
        <p:nvPicPr>
          <p:cNvPr descr="img/jensen_pi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E-step</a:t>
            </a:r>
          </a:p>
        </p:txBody>
      </p:sp>
      <p:pic>
        <p:nvPicPr>
          <p:cNvPr descr="img/elbo_este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M-step</a:t>
            </a:r>
          </a:p>
        </p:txBody>
      </p:sp>
      <p:pic>
        <p:nvPicPr>
          <p:cNvPr descr="img/elbo_mste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Minorize–maximize steps</a:t>
            </a:r>
          </a:p>
        </p:txBody>
      </p:sp>
      <p:pic>
        <p:nvPicPr>
          <p:cNvPr descr="img/mm_pi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Inequalities proving monotonicity</a:t>
            </a:r>
          </a:p>
        </p:txBody>
      </p:sp>
      <p:pic>
        <p:nvPicPr>
          <p:cNvPr descr="img/eq_em_monoto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Closed form derivation</a:t>
            </a:r>
          </a:p>
        </p:txBody>
      </p:sp>
      <p:pic>
        <p:nvPicPr>
          <p:cNvPr descr="img/eq_mstep_deriv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Where it stops</a:t>
            </a:r>
          </a:p>
        </p:txBody>
      </p:sp>
      <p:pic>
        <p:nvPicPr>
          <p:cNvPr descr="img/em_converge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Expectation-Maximization variations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Algorithm variations</a:t>
            </a:r>
          </a:p>
        </p:txBody>
      </p:sp>
      <p:pic>
        <p:nvPicPr>
          <p:cNvPr descr="img/hard_e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k-means is a limit case of EM</a:t>
            </a:r>
          </a:p>
        </p:txBody>
      </p:sp>
      <p:pic>
        <p:nvPicPr>
          <p:cNvPr descr="img/eq_kmeans_limi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k-means vs Gaussian mixture</a:t>
            </a:r>
          </a:p>
        </p:txBody>
      </p:sp>
      <p:pic>
        <p:nvPicPr>
          <p:cNvPr descr="img/kmeans_vs_gm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Stochastic EM</a:t>
            </a:r>
          </a:p>
        </p:txBody>
      </p:sp>
      <p:pic>
        <p:nvPicPr>
          <p:cNvPr descr="img/sem_algorith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SEM example</a:t>
            </a:r>
          </a:p>
        </p:txBody>
      </p:sp>
      <p:pic>
        <p:nvPicPr>
          <p:cNvPr descr="img/sem_ru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N draws per point</a:t>
            </a:r>
          </a:p>
        </p:txBody>
      </p:sp>
      <p:pic>
        <p:nvPicPr>
          <p:cNvPr descr="img/nsem_ide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k-means vs EM vs SEM vs N-SEM</a:t>
            </a:r>
          </a:p>
        </p:txBody>
      </p:sp>
      <p:pic>
        <p:nvPicPr>
          <p:cNvPr descr="img/em_varian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Reach convergence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Where you start matters</a:t>
            </a:r>
          </a:p>
        </p:txBody>
      </p:sp>
      <p:pic>
        <p:nvPicPr>
          <p:cNvPr descr="img/init_strateg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Starts comparison</a:t>
            </a:r>
          </a:p>
        </p:txBody>
      </p:sp>
      <p:pic>
        <p:nvPicPr>
          <p:cNvPr descr="img/init_comp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Guarding against collapse</a:t>
            </a:r>
          </a:p>
        </p:txBody>
      </p:sp>
      <p:pic>
        <p:nvPicPr>
          <p:cNvPr descr="img/reg_cova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Covariance types</a:t>
            </a:r>
          </a:p>
        </p:txBody>
      </p:sp>
      <p:pic>
        <p:nvPicPr>
          <p:cNvPr descr="img/covariance_choi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AIC and BIC</a:t>
            </a:r>
          </a:p>
        </p:txBody>
      </p:sp>
      <p:pic>
        <p:nvPicPr>
          <p:cNvPr descr="img/aic_bi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Number of components</a:t>
            </a:r>
          </a:p>
        </p:txBody>
      </p:sp>
      <p:pic>
        <p:nvPicPr>
          <p:cNvPr descr="img/choosing_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Example on real data</a:t>
            </a:r>
          </a:p>
        </p:txBody>
      </p:sp>
      <p:pic>
        <p:nvPicPr>
          <p:cNvPr descr="img/gmm_ir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Scoring a new point</a:t>
            </a:r>
          </a:p>
        </p:txBody>
      </p:sp>
      <p:pic>
        <p:nvPicPr>
          <p:cNvPr descr="img/gmm_anomal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Beyond the Gaussian</a:t>
            </a:r>
          </a:p>
        </p:txBody>
      </p:sp>
      <p:pic>
        <p:nvPicPr>
          <p:cNvPr descr="img/beyond_gaussia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pic>
        <p:nvPicPr>
          <p:cNvPr descr="img/gmm_prop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6 Mixture Models and Expectation-Maximization</dc:title>
  <dc:creator/>
  <cp:keywords/>
  <dcterms:created xsi:type="dcterms:W3CDTF">2026-10-27T15:31:35Z</dcterms:created>
  <dcterms:modified xsi:type="dcterms:W3CDTF">2026-10-27T15:31:35Z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Week 6 — Lecture</vt:lpwstr>
  </property>
  <property fmtid="{D5CDD505-2E9C-101B-9397-08002B2CF9AE}" pid="3" name="subtitle">
    <vt:lpwstr>Advanced Machine Learning · MSc DSBA · 2026  Paul Dubois</vt:lpwstr>
  </property>
</Properties>
</file>