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Trees, Forests and Boosting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Advanced Machine Learning · MSc DSBA · 2026</a:t>
            </a:r>
            <a:br/>
            <a:br/>
            <a:r>
              <a:rPr/>
              <a:t>Paul Dubois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3 — Lecture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Decision trees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 tree is a sequence of questions</a:t>
            </a:r>
          </a:p>
        </p:txBody>
      </p:sp>
      <p:pic>
        <p:nvPicPr>
          <p:cNvPr descr="img-bis/tree_ques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the split</a:t>
            </a:r>
          </a:p>
        </p:txBody>
      </p:sp>
      <p:pic>
        <p:nvPicPr>
          <p:cNvPr descr="img-bis/tree_spl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“pure” means</a:t>
            </a:r>
          </a:p>
        </p:txBody>
      </p:sp>
      <p:pic>
        <p:nvPicPr>
          <p:cNvPr descr="img-bis/impur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Depth is the capacity knob</a:t>
            </a:r>
          </a:p>
        </p:txBody>
      </p:sp>
      <p:pic>
        <p:nvPicPr>
          <p:cNvPr descr="img-bis/tree_gr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Regression trees predict staircases</a:t>
            </a:r>
          </a:p>
        </p:txBody>
      </p:sp>
      <p:pic>
        <p:nvPicPr>
          <p:cNvPr descr="img-bis/tree_regres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And they over-fit</a:t>
            </a:r>
          </a:p>
        </p:txBody>
      </p:sp>
      <p:pic>
        <p:nvPicPr>
          <p:cNvPr descr="img-bis/tree_overf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real problem: instability</a:t>
            </a:r>
          </a:p>
        </p:txBody>
      </p:sp>
      <p:pic>
        <p:nvPicPr>
          <p:cNvPr descr="img-bis/tree_instabi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Random forests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idea</a:t>
            </a:r>
          </a:p>
        </p:txBody>
      </p:sp>
      <p:pic>
        <p:nvPicPr>
          <p:cNvPr descr="img-bis/forest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Trees must disagree</a:t>
            </a:r>
          </a:p>
        </p:txBody>
      </p:sp>
      <p:pic>
        <p:nvPicPr>
          <p:cNvPr descr="img-bis/eq_forest_vari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Averaging is not magic</a:t>
            </a:r>
          </a:p>
        </p:txBody>
      </p:sp>
      <p:pic>
        <p:nvPicPr>
          <p:cNvPr descr="img-bis/forest_varia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max_features does</a:t>
            </a:r>
          </a:p>
        </p:txBody>
      </p:sp>
      <p:pic>
        <p:nvPicPr>
          <p:cNvPr descr="img-bis/max_featu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knob: max_features</a:t>
            </a:r>
          </a:p>
        </p:txBody>
      </p:sp>
      <p:pic>
        <p:nvPicPr>
          <p:cNvPr descr="img-bis/forest_featu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Two injections of randomness</a:t>
            </a:r>
          </a:p>
        </p:txBody>
      </p:sp>
      <p:pic>
        <p:nvPicPr>
          <p:cNvPr descr="img-bis/forest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boundary stops twitching</a:t>
            </a:r>
          </a:p>
        </p:txBody>
      </p:sp>
      <p:pic>
        <p:nvPicPr>
          <p:cNvPr descr="img-bis/forest_bounda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Strength against diversity</a:t>
            </a:r>
          </a:p>
        </p:txBody>
      </p:sp>
      <p:pic>
        <p:nvPicPr>
          <p:cNvPr descr="img-bis/forest_corre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More trees never over-fits</a:t>
            </a:r>
          </a:p>
        </p:txBody>
      </p:sp>
      <p:pic>
        <p:nvPicPr>
          <p:cNvPr descr="img-bis/forest_ntre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Boosting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Combine many trees differently</a:t>
            </a:r>
          </a:p>
        </p:txBody>
      </p:sp>
      <p:pic>
        <p:nvPicPr>
          <p:cNvPr descr="img-bis/boosting_stag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Forest and boosting attack different errors</a:t>
            </a:r>
          </a:p>
        </p:txBody>
      </p:sp>
      <p:pic>
        <p:nvPicPr>
          <p:cNvPr descr="img-bis/bagging_vs_boost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Boosting </a:t>
            </a:r>
            <a:r>
              <a:rPr i="1"/>
              <a:t>can</a:t>
            </a:r>
            <a:r>
              <a:rPr/>
              <a:t> over-fit</a:t>
            </a:r>
          </a:p>
        </p:txBody>
      </p:sp>
      <p:pic>
        <p:nvPicPr>
          <p:cNvPr descr="img-bis/boosting_overf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Boosting as an additive model</a:t>
            </a:r>
          </a:p>
        </p:txBody>
      </p:sp>
      <p:pic>
        <p:nvPicPr>
          <p:cNvPr descr="img-bis/additive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Boosting is gradient descent in function space</a:t>
            </a:r>
          </a:p>
        </p:txBody>
      </p:sp>
      <p:pic>
        <p:nvPicPr>
          <p:cNvPr descr="img-bis/eq_boost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Shrinkage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Shrinkage</a:t>
            </a:r>
          </a:p>
        </p:txBody>
      </p:sp>
      <p:pic>
        <p:nvPicPr>
          <p:cNvPr descr="img-bis/shrink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learning rate is a regulariser</a:t>
            </a:r>
          </a:p>
        </p:txBody>
      </p:sp>
      <p:pic>
        <p:nvPicPr>
          <p:cNvPr descr="img-bis/learning_r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XGBoost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Regularisation inside the tree objective</a:t>
            </a:r>
          </a:p>
        </p:txBody>
      </p:sp>
      <p:pic>
        <p:nvPicPr>
          <p:cNvPr descr="img-bis/eq_xgboo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Splitting candidates</a:t>
            </a:r>
          </a:p>
        </p:txBody>
      </p:sp>
      <p:pic>
        <p:nvPicPr>
          <p:cNvPr descr="img-bis/xgb_split_se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Loss simplification for one leaf</a:t>
            </a:r>
          </a:p>
        </p:txBody>
      </p:sp>
      <p:pic>
        <p:nvPicPr>
          <p:cNvPr descr="img-bis/eq_leaf_objectiv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Scoring candidate splits</a:t>
            </a:r>
          </a:p>
        </p:txBody>
      </p:sp>
      <p:pic>
        <p:nvPicPr>
          <p:cNvPr descr="img-bis/xgb_leaf_sco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Gradient and Hessian</a:t>
            </a:r>
          </a:p>
        </p:txBody>
      </p:sp>
      <p:pic>
        <p:nvPicPr>
          <p:cNvPr descr="img-bis/xgb_g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Summing trees to get the prediction</a:t>
            </a:r>
          </a:p>
        </p:txBody>
      </p:sp>
      <p:pic>
        <p:nvPicPr>
          <p:cNvPr descr="img-bis/xgb_leaf_predi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LightGBM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Bin each feature once</a:t>
            </a:r>
          </a:p>
        </p:txBody>
      </p:sp>
      <p:pic>
        <p:nvPicPr>
          <p:cNvPr descr="img-bis/lgbm_bi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Finding the optimal cut in one sweep</a:t>
            </a:r>
          </a:p>
        </p:txBody>
      </p:sp>
      <p:pic>
        <p:nvPicPr>
          <p:cNvPr descr="img-bis/lgbm_pref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Scan bin edges, not rows</a:t>
            </a:r>
          </a:p>
        </p:txBody>
      </p:sp>
      <p:pic>
        <p:nvPicPr>
          <p:cNvPr descr="img-bis/lgbm_binned_sc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 child’s histogram is the parent minus its sibling</a:t>
            </a:r>
          </a:p>
        </p:txBody>
      </p:sp>
      <p:pic>
        <p:nvPicPr>
          <p:cNvPr descr="img-bis/lgbm_sub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Leaf-wise growth: spend every split where it pays most</a:t>
            </a:r>
          </a:p>
        </p:txBody>
      </p:sp>
      <p:pic>
        <p:nvPicPr>
          <p:cNvPr descr="img-bis/lgbm_leafwi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GOSS: sample the rows that are already fitted</a:t>
            </a:r>
          </a:p>
        </p:txBody>
      </p:sp>
      <p:pic>
        <p:nvPicPr>
          <p:cNvPr descr="img-bis/lgbm_g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CatBoost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Categories: the target statistic problem</a:t>
            </a:r>
          </a:p>
        </p:txBody>
      </p:sp>
      <p:pic>
        <p:nvPicPr>
          <p:cNvPr descr="img-bis/cat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encoding leaks the label</a:t>
            </a:r>
          </a:p>
        </p:txBody>
      </p:sp>
      <p:pic>
        <p:nvPicPr>
          <p:cNvPr descr="img-bis/cat_leak_w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Ordered target statistics: use only what came before</a:t>
            </a:r>
          </a:p>
        </p:txBody>
      </p:sp>
      <p:pic>
        <p:nvPicPr>
          <p:cNvPr descr="img-bis/cat_ch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Ordered target statistics: the correlation is gone</a:t>
            </a:r>
          </a:p>
        </p:txBody>
      </p:sp>
      <p:pic>
        <p:nvPicPr>
          <p:cNvPr descr="img-bis/cat_ordered_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Oblivious trees: one split per level</a:t>
            </a:r>
          </a:p>
        </p:txBody>
      </p:sp>
      <p:pic>
        <p:nvPicPr>
          <p:cNvPr descr="img-bis/cat_oblivio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three of them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XGBoost, LightGBM, CatBoost</a:t>
            </a:r>
          </a:p>
        </p:txBody>
      </p:sp>
      <p:pic>
        <p:nvPicPr>
          <p:cNvPr descr="img-bis/gbm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Trees, Forests and Boosting</dc:title>
  <dc:creator/>
  <cp:keywords/>
  <dcterms:created xsi:type="dcterms:W3CDTF">2026-10-06T21:59:14Z</dcterms:created>
  <dcterms:modified xsi:type="dcterms:W3CDTF">2026-10-06T21:59:14Z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3 — Lecture</vt:lpwstr>
  </property>
  <property fmtid="{D5CDD505-2E9C-101B-9397-08002B2CF9AE}" pid="3" name="subtitle">
    <vt:lpwstr>Advanced Machine Learning · MSc DSBA · 2026  Paul Dubois</vt:lpwstr>
  </property>
</Properties>
</file>