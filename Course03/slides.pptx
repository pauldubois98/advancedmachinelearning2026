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4" Type="http://schemas.openxmlformats.org/officeDocument/2006/relationships/viewProps" Target="viewProps.xml" /><Relationship Id="rId4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6" Type="http://schemas.openxmlformats.org/officeDocument/2006/relationships/tableStyles" Target="tableStyles.xml" /><Relationship Id="rId4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1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2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3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4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5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6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7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8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9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0.pn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1.png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2.png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3.png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4.png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5.png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Session 3</a:t>
            </a:r>
            <a:br/>
            <a:r>
              <a:rPr/>
              <a:t>Support Vector Machines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Advanced Machine Learning · MSc DSBA · 2026</a:t>
            </a:r>
            <a:br/>
            <a:br/>
            <a:r>
              <a:rPr/>
              <a:t>Paul Dubois</a:t>
            </a:r>
            <a:br/>
            <a:br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Week 3 — Lecture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The linear SVM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Separating classes with a line</a:t>
            </a:r>
          </a:p>
        </p:txBody>
      </p:sp>
      <p:pic>
        <p:nvPicPr>
          <p:cNvPr descr="img/svm_settin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Which line?</a:t>
            </a:r>
          </a:p>
        </p:txBody>
      </p:sp>
      <p:pic>
        <p:nvPicPr>
          <p:cNvPr descr="img/svm_whic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The widest street</a:t>
            </a:r>
          </a:p>
        </p:txBody>
      </p:sp>
      <p:pic>
        <p:nvPicPr>
          <p:cNvPr descr="img/svm_margi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Width of the street</a:t>
            </a:r>
          </a:p>
        </p:txBody>
      </p:sp>
      <p:pic>
        <p:nvPicPr>
          <p:cNvPr descr="img/eq_margi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Fixing the scale</a:t>
            </a:r>
          </a:p>
        </p:txBody>
      </p:sp>
      <p:pic>
        <p:nvPicPr>
          <p:cNvPr descr="img/canonic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Optimization problem</a:t>
            </a:r>
          </a:p>
        </p:txBody>
      </p:sp>
      <p:pic>
        <p:nvPicPr>
          <p:cNvPr descr="img/eq_prim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Lagrangian to α ≥ 0 constraints</a:t>
            </a:r>
          </a:p>
        </p:txBody>
      </p:sp>
      <p:pic>
        <p:nvPicPr>
          <p:cNvPr descr="img/eq_squared_slac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Expressing constraint in two ways</a:t>
            </a:r>
          </a:p>
        </p:txBody>
      </p:sp>
      <p:pic>
        <p:nvPicPr>
          <p:cNvPr descr="img/slack_or_max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Dual formulation</a:t>
            </a:r>
          </a:p>
        </p:txBody>
      </p:sp>
      <p:pic>
        <p:nvPicPr>
          <p:cNvPr descr="img/eq_du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The Lagrangian has a saddle</a:t>
            </a:r>
          </a:p>
        </p:txBody>
      </p:sp>
      <p:pic>
        <p:nvPicPr>
          <p:cNvPr descr="img/duality_sadd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Reading the primal back off the dual</a:t>
            </a:r>
          </a:p>
        </p:txBody>
      </p:sp>
      <p:pic>
        <p:nvPicPr>
          <p:cNvPr descr="img/kkt_recov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Only a few points matter</a:t>
            </a:r>
          </a:p>
        </p:txBody>
      </p:sp>
      <p:pic>
        <p:nvPicPr>
          <p:cNvPr descr="img/support_vector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The soft margin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When no line works</a:t>
            </a:r>
          </a:p>
        </p:txBody>
      </p:sp>
      <p:pic>
        <p:nvPicPr>
          <p:cNvPr descr="img/not_separab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Slack</a:t>
            </a:r>
          </a:p>
        </p:txBody>
      </p:sp>
      <p:pic>
        <p:nvPicPr>
          <p:cNvPr descr="img/slack_ide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Soft-margin problem</a:t>
            </a:r>
          </a:p>
        </p:txBody>
      </p:sp>
      <p:pic>
        <p:nvPicPr>
          <p:cNvPr descr="img/eq_sof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C: how much misbehaviour is allowed?</a:t>
            </a:r>
          </a:p>
        </p:txBody>
      </p:sp>
      <p:pic>
        <p:nvPicPr>
          <p:cNvPr descr="img/svm_c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The loss</a:t>
            </a:r>
          </a:p>
        </p:txBody>
      </p:sp>
      <p:pic>
        <p:nvPicPr>
          <p:cNvPr descr="img/eq_sv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Hinge, log loss, squares</a:t>
            </a:r>
          </a:p>
        </p:txBody>
      </p:sp>
      <p:pic>
        <p:nvPicPr>
          <p:cNvPr descr="img/hinge_los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Kernels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The kernel trick</a:t>
            </a:r>
          </a:p>
        </p:txBody>
      </p:sp>
      <p:pic>
        <p:nvPicPr>
          <p:cNvPr descr="img/svm_kerne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XOR</a:t>
            </a:r>
          </a:p>
        </p:txBody>
      </p:sp>
      <p:pic>
        <p:nvPicPr>
          <p:cNvPr descr="img/xor_examp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Why the trick works</a:t>
            </a:r>
          </a:p>
        </p:txBody>
      </p:sp>
      <p:pic>
        <p:nvPicPr>
          <p:cNvPr descr="img/eq_kernel_tric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RBF kernel</a:t>
            </a:r>
          </a:p>
        </p:txBody>
      </p:sp>
      <p:pic>
        <p:nvPicPr>
          <p:cNvPr descr="img/svm_similarit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Kernel requirements</a:t>
            </a:r>
          </a:p>
        </p:txBody>
      </p:sp>
      <p:pic>
        <p:nvPicPr>
          <p:cNvPr descr="img/eq_kernel_condition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Typical kernels</a:t>
            </a:r>
          </a:p>
        </p:txBody>
      </p:sp>
      <p:pic>
        <p:nvPicPr>
          <p:cNvPr descr="img/svm_kernel_zo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Kernels in practice</a:t>
            </a:r>
          </a:p>
        </p:txBody>
      </p:sp>
      <p:pic>
        <p:nvPicPr>
          <p:cNvPr descr="img/svm_kernel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Scale features first</a:t>
            </a:r>
          </a:p>
        </p:txBody>
      </p:sp>
      <p:pic>
        <p:nvPicPr>
          <p:cNvPr descr="img/feature_scalin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Choosing C and γ</a:t>
            </a:r>
          </a:p>
        </p:txBody>
      </p:sp>
      <p:pic>
        <p:nvPicPr>
          <p:cNvPr descr="img/kernel_cv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Dual problem with a kernel</a:t>
            </a:r>
          </a:p>
        </p:txBody>
      </p:sp>
      <p:pic>
        <p:nvPicPr>
          <p:cNvPr descr="img/eq_kernel_du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What kernels cost</a:t>
            </a:r>
          </a:p>
        </p:txBody>
      </p:sp>
      <p:pic>
        <p:nvPicPr>
          <p:cNvPr descr="img/kernel_prop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SVMs scaling</a:t>
            </a:r>
          </a:p>
        </p:txBody>
      </p:sp>
      <p:pic>
        <p:nvPicPr>
          <p:cNvPr descr="img/svm_cos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More than two classes</a:t>
            </a:r>
          </a:p>
        </p:txBody>
      </p:sp>
      <p:pic>
        <p:nvPicPr>
          <p:cNvPr descr="img/multiclas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Beyond classification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The same idea, for regression</a:t>
            </a:r>
          </a:p>
        </p:txBody>
      </p:sp>
      <p:pic>
        <p:nvPicPr>
          <p:cNvPr descr="img/sv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Regression in the dual</a:t>
            </a:r>
          </a:p>
        </p:txBody>
      </p:sp>
      <p:pic>
        <p:nvPicPr>
          <p:cNvPr descr="img/svr_du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The width of the tube</a:t>
            </a:r>
          </a:p>
        </p:txBody>
      </p:sp>
      <p:pic>
        <p:nvPicPr>
          <p:cNvPr descr="img/svr_epsil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Recap</a:t>
            </a:r>
          </a:p>
        </p:txBody>
      </p:sp>
      <p:pic>
        <p:nvPicPr>
          <p:cNvPr descr="img/svm_ma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Next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lvl="0" indent="0" marL="0" algn="ctr">
              <a:buNone/>
            </a:pPr>
            <a:r>
              <a:rPr sz="2000"/>
              <a:t>Density-based and hierarchical clustering:</a:t>
            </a:r>
            <a:br/>
            <a:r>
              <a:rPr sz="2000"/>
              <a:t>learning without labels.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3 Support Vector Machines</dc:title>
  <dc:creator/>
  <cp:keywords/>
  <dcterms:created xsi:type="dcterms:W3CDTF">2026-10-06T21:36:55Z</dcterms:created>
  <dcterms:modified xsi:type="dcterms:W3CDTF">2026-10-06T21:36:55Z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Week 3 — Lecture</vt:lpwstr>
  </property>
  <property fmtid="{D5CDD505-2E9C-101B-9397-08002B2CF9AE}" pid="3" name="subtitle">
    <vt:lpwstr>Advanced Machine Learning · MSc DSBA · 2026  Paul Dubois</vt:lpwstr>
  </property>
</Properties>
</file>