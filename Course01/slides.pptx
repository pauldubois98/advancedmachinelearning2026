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8" Type="http://schemas.openxmlformats.org/officeDocument/2006/relationships/viewProps" Target="viewProps.xml" /><Relationship Id="rId87" Type="http://schemas.openxmlformats.org/officeDocument/2006/relationships/presProps" Target="presProps.xml" /><Relationship Id="rId1" Type="http://schemas.openxmlformats.org/officeDocument/2006/relationships/slideMaster" Target="slideMasters/slideMaster1.xml" /><Relationship Id="rId90" Type="http://schemas.openxmlformats.org/officeDocument/2006/relationships/tableStyles" Target="tableStyles.xml" /><Relationship Id="rId8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9.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4.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5.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6.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7.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8.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9.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0.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1.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2.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3.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4.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5.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6.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7.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8.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9.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0.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1.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2.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3.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4.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5.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6.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7.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8.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9.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0.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1.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2.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3.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4.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5.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6.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7.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8.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9.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0.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1.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2.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3.png"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4.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5.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6.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7.png"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8.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9.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0.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1.png"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2.png"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3.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4.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5.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6.png"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1</a:t>
            </a:r>
            <a:br/>
            <a:r>
              <a:rPr/>
              <a:t>Introduction and Reminders on Machine Learning</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Advanced Machine Learning · MSc DSBA · 2026</a:t>
            </a:r>
            <a:br/>
            <a:br/>
            <a:r>
              <a:rPr/>
              <a:t>Paul Dubois</a:t>
            </a:r>
            <a:br/>
            <a:br/>
          </a:p>
        </p:txBody>
      </p:sp>
      <p:sp>
        <p:nvSpPr>
          <p:cNvPr id="4" name="Date Placeholder 3"/>
          <p:cNvSpPr>
            <a:spLocks noGrp="1"/>
          </p:cNvSpPr>
          <p:nvPr>
            <p:ph idx="10" sz="half" type="dt"/>
          </p:nvPr>
        </p:nvSpPr>
        <p:spPr/>
        <p:txBody>
          <a:bodyPr>
            <a:normAutofit/>
          </a:bodyPr>
          <a:lstStyle/>
          <a:p>
            <a:pPr lvl="0" indent="0" marL="0">
              <a:buNone/>
            </a:pPr>
            <a:r>
              <a:rPr/>
              <a:t>Week 1 —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Practical information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Summary</a:t>
            </a:r>
          </a:p>
        </p:txBody>
      </p:sp>
      <p:pic>
        <p:nvPicPr>
          <p:cNvPr descr="img/about.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Expected to be known already</a:t>
            </a:r>
          </a:p>
        </p:txBody>
      </p:sp>
      <p:pic>
        <p:nvPicPr>
          <p:cNvPr descr="img/prerequisite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Reading material</a:t>
            </a:r>
          </a:p>
        </p:txBody>
      </p:sp>
      <p:sp>
        <p:nvSpPr>
          <p:cNvPr id="3" name="Content Placeholder 2"/>
          <p:cNvSpPr>
            <a:spLocks noGrp="1"/>
          </p:cNvSpPr>
          <p:nvPr>
            <p:ph idx="1"/>
          </p:nvPr>
        </p:nvSpPr>
        <p:spPr/>
        <p:txBody>
          <a:bodyPr>
            <a:normAutofit/>
          </a:bodyPr>
          <a:lstStyle/>
          <a:p>
            <a:pPr lvl="0"/>
            <a:r>
              <a:rPr/>
              <a:t>G. James, D. Witten, T. Hastie, R. Tibshirani — </a:t>
            </a:r>
            <a:r>
              <a:rPr i="1"/>
              <a:t>An Introduction to Statistical Learning</a:t>
            </a:r>
            <a:r>
              <a:rPr/>
              <a:t> (2013)</a:t>
            </a:r>
          </a:p>
          <a:p>
            <a:pPr lvl="0"/>
            <a:r>
              <a:rPr/>
              <a:t>T. Hastie, R. Tibshirani, J. Friedman — </a:t>
            </a:r>
            <a:r>
              <a:rPr i="1"/>
              <a:t>The Elements of Statistical Learning</a:t>
            </a:r>
            <a:r>
              <a:rPr/>
              <a:t> (2009)</a:t>
            </a:r>
          </a:p>
          <a:p>
            <a:pPr lvl="0"/>
            <a:r>
              <a:rPr/>
              <a:t>C. M. Bishop — </a:t>
            </a:r>
            <a:r>
              <a:rPr i="1"/>
              <a:t>Pattern Recognition and Machine Learning</a:t>
            </a:r>
            <a:r>
              <a:rPr/>
              <a:t> (2006)</a:t>
            </a:r>
          </a:p>
          <a:p>
            <a:pPr lvl="0" indent="0" marL="0">
              <a:buNone/>
            </a:pPr>
            <a:r>
              <a:rPr/>
              <a:t>Slides, labs, data and announcements live on Edunao.</a:t>
            </a:r>
            <a:br/>
            <a:r>
              <a:rPr/>
              <a:t>The slides are not comprehensive.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it is used</a:t>
            </a:r>
          </a:p>
        </p:txBody>
      </p:sp>
      <p:pic>
        <p:nvPicPr>
          <p:cNvPr descr="img/application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Grading</a:t>
            </a:r>
          </a:p>
        </p:txBody>
      </p:sp>
      <p:sp>
        <p:nvSpPr>
          <p:cNvPr id="3" name="Content Placeholder 2"/>
          <p:cNvSpPr>
            <a:spLocks noGrp="1"/>
          </p:cNvSpPr>
          <p:nvPr>
            <p:ph idx="1"/>
          </p:nvPr>
        </p:nvSpPr>
        <p:spPr/>
        <p:txBody>
          <a:bodyPr anchor="ctr">
            <a:normAutofit/>
          </a:bodyPr>
          <a:lstStyle/>
          <a:p>
            <a:pPr lvl="0" indent="0" marL="0" algn="ctr">
              <a:buNone/>
            </a:pPr>
            <a:r>
              <a:rPr sz="1600"/>
              <a:t>100% of your grade will be based on the final project report.</a:t>
            </a:r>
          </a:p>
          <a:p>
            <a:pPr lvl="0" indent="0" marL="0" algn="ctr">
              <a:buNone/>
            </a:pPr>
            <a:r>
              <a:rPr sz="1600"/>
              <a:t>The goal is for you to pick up some topic of your interest, with public data available. Produce an analysis using one or more technique(s) introduced during this course. You will write your findings in a report of ~5 pages.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Suggested datasets for the project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 Stars CYG OB1</a:t>
            </a:r>
          </a:p>
        </p:txBody>
      </p:sp>
      <p:pic>
        <p:nvPicPr>
          <p:cNvPr descr="img/ds_star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2. Ames Housing</a:t>
            </a:r>
          </a:p>
        </p:txBody>
      </p:sp>
      <p:pic>
        <p:nvPicPr>
          <p:cNvPr descr="img/ds_ame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3. DVF, Demandes de Valeurs Foncières</a:t>
            </a:r>
          </a:p>
        </p:txBody>
      </p:sp>
      <p:pic>
        <p:nvPicPr>
          <p:cNvPr descr="img/ds_dvf.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4. Breast Cancer Wisconsin (Diagnostic)</a:t>
            </a:r>
          </a:p>
        </p:txBody>
      </p:sp>
      <p:pic>
        <p:nvPicPr>
          <p:cNvPr descr="img/ds_breast_cancer.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5. Adult (Census Income)</a:t>
            </a:r>
          </a:p>
        </p:txBody>
      </p:sp>
      <p:pic>
        <p:nvPicPr>
          <p:cNvPr descr="img/ds_adult.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6. Credit Card Fraud Detection (ULB)</a:t>
            </a:r>
          </a:p>
        </p:txBody>
      </p:sp>
      <p:pic>
        <p:nvPicPr>
          <p:cNvPr descr="img/ds_creditcard.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7. Spambase</a:t>
            </a:r>
          </a:p>
        </p:txBody>
      </p:sp>
      <p:pic>
        <p:nvPicPr>
          <p:cNvPr descr="img/ds_spambas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8. USGS Earthquake Catalogue</a:t>
            </a:r>
          </a:p>
        </p:txBody>
      </p:sp>
      <p:pic>
        <p:nvPicPr>
          <p:cNvPr descr="img/ds_earthquake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9. Vélib’ Métropole station availability</a:t>
            </a:r>
          </a:p>
        </p:txBody>
      </p:sp>
      <p:pic>
        <p:nvPicPr>
          <p:cNvPr descr="img/ds_velib.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10. Online Retail II</a:t>
            </a:r>
          </a:p>
        </p:txBody>
      </p:sp>
      <p:pic>
        <p:nvPicPr>
          <p:cNvPr descr="img/ds_online_retail.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11. Wholesale Customers</a:t>
            </a:r>
          </a:p>
        </p:txBody>
      </p:sp>
      <p:pic>
        <p:nvPicPr>
          <p:cNvPr descr="img/ds_wholesal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12. 20 Newsgroups</a:t>
            </a:r>
          </a:p>
        </p:txBody>
      </p:sp>
      <p:pic>
        <p:nvPicPr>
          <p:cNvPr descr="img/ds_newsgroup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13. Olivetti Faces (AT&amp;T)</a:t>
            </a:r>
          </a:p>
        </p:txBody>
      </p:sp>
      <p:pic>
        <p:nvPicPr>
          <p:cNvPr descr="img/ds_olivetti.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14. MovieLens 100K</a:t>
            </a:r>
          </a:p>
        </p:txBody>
      </p:sp>
      <p:pic>
        <p:nvPicPr>
          <p:cNvPr descr="img/ds_movielen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15. Galaxies (Roeder, 1990)</a:t>
            </a:r>
          </a:p>
        </p:txBody>
      </p:sp>
      <p:pic>
        <p:nvPicPr>
          <p:cNvPr descr="img/ds_galaxie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16. Palmer Penguins</a:t>
            </a:r>
          </a:p>
        </p:txBody>
      </p:sp>
      <p:pic>
        <p:nvPicPr>
          <p:cNvPr descr="img/ds_penguin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17. Berkeley Segmentation Dataset (BSDS500)</a:t>
            </a:r>
          </a:p>
        </p:txBody>
      </p:sp>
      <p:pic>
        <p:nvPicPr>
          <p:cNvPr descr="img/ds_bsd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18. Fashion MNIST</a:t>
            </a:r>
          </a:p>
        </p:txBody>
      </p:sp>
      <p:pic>
        <p:nvPicPr>
          <p:cNvPr descr="img/ds_fashion_mnist.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19. PBMC 3k (single cell RNA sequencing)</a:t>
            </a:r>
          </a:p>
        </p:txBody>
      </p:sp>
      <p:pic>
        <p:nvPicPr>
          <p:cNvPr descr="img/ds_pbmc.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20. Human Activity Recognition Using Smartphones</a:t>
            </a:r>
          </a:p>
        </p:txBody>
      </p:sp>
      <p:pic>
        <p:nvPicPr>
          <p:cNvPr descr="img/ds_har.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21. COIL 20</a:t>
            </a:r>
          </a:p>
        </p:txBody>
      </p:sp>
      <p:pic>
        <p:nvPicPr>
          <p:cNvPr descr="img/ds_coil20.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Reminders on parameter estimation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Learning is estimating parameters</a:t>
            </a:r>
          </a:p>
        </p:txBody>
      </p:sp>
      <p:pic>
        <p:nvPicPr>
          <p:cNvPr descr="img/estimation_setup.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How close, on average?</a:t>
            </a:r>
          </a:p>
        </p:txBody>
      </p:sp>
      <p:pic>
        <p:nvPicPr>
          <p:cNvPr descr="img/bia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How stable?</a:t>
            </a:r>
          </a:p>
        </p:txBody>
      </p:sp>
      <p:pic>
        <p:nvPicPr>
          <p:cNvPr descr="img/varianc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Bias and variance are independent problems</a:t>
            </a:r>
          </a:p>
        </p:txBody>
      </p:sp>
      <p:pic>
        <p:nvPicPr>
          <p:cNvPr descr="img/dartboard.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One number for both bias &amp; var</a:t>
            </a:r>
          </a:p>
        </p:txBody>
      </p:sp>
      <p:pic>
        <p:nvPicPr>
          <p:cNvPr descr="img/eq_ms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Three ways to find a good estimator</a:t>
            </a:r>
          </a:p>
        </p:txBody>
      </p:sp>
      <p:pic>
        <p:nvPicPr>
          <p:cNvPr descr="img/three_method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Method of moments: match what you can compute</a:t>
            </a:r>
          </a:p>
        </p:txBody>
      </p:sp>
      <p:pic>
        <p:nvPicPr>
          <p:cNvPr descr="img/mom_idea.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Method of moments: the Gaussian case</a:t>
            </a:r>
          </a:p>
        </p:txBody>
      </p:sp>
      <p:pic>
        <p:nvPicPr>
          <p:cNvPr descr="img/mom_gaussian.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the method of moments is worth</a:t>
            </a:r>
          </a:p>
        </p:txBody>
      </p:sp>
      <p:pic>
        <p:nvPicPr>
          <p:cNvPr descr="img/mom_prop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is likelihood?</a:t>
            </a:r>
          </a:p>
        </p:txBody>
      </p:sp>
      <p:pic>
        <p:nvPicPr>
          <p:cNvPr descr="img/eq_likelihood.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Likelihood on data</a:t>
            </a:r>
          </a:p>
        </p:txBody>
      </p:sp>
      <p:pic>
        <p:nvPicPr>
          <p:cNvPr descr="img/likelihood_build.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Maximum likelihood on data</a:t>
            </a:r>
          </a:p>
        </p:txBody>
      </p:sp>
      <p:pic>
        <p:nvPicPr>
          <p:cNvPr descr="img/mle_idea.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Why taking the log</a:t>
            </a:r>
          </a:p>
        </p:txBody>
      </p:sp>
      <p:pic>
        <p:nvPicPr>
          <p:cNvPr descr="img/log_likelihood.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Maximum likelihood: the Gaussian case</a:t>
            </a:r>
          </a:p>
        </p:txBody>
      </p:sp>
      <p:pic>
        <p:nvPicPr>
          <p:cNvPr descr="img/mle_gaussian.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maximum likelihood is worth</a:t>
            </a:r>
          </a:p>
        </p:txBody>
      </p:sp>
      <p:pic>
        <p:nvPicPr>
          <p:cNvPr descr="img/mle_prop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When parameters follow a random distribution</a:t>
            </a:r>
          </a:p>
        </p:txBody>
      </p:sp>
      <p:pic>
        <p:nvPicPr>
          <p:cNvPr descr="img/bayes_setup.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posterior</a:t>
            </a:r>
          </a:p>
        </p:txBody>
      </p:sp>
      <p:pic>
        <p:nvPicPr>
          <p:cNvPr descr="img/eq_posterior.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is a “cost”?</a:t>
            </a:r>
          </a:p>
        </p:txBody>
      </p:sp>
      <p:pic>
        <p:nvPicPr>
          <p:cNvPr descr="img/cost_idea.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Three costs, three estimators</a:t>
            </a:r>
          </a:p>
        </p:txBody>
      </p:sp>
      <p:pic>
        <p:nvPicPr>
          <p:cNvPr descr="img/cost_zoo.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How much the prior matters</a:t>
            </a:r>
          </a:p>
        </p:txBody>
      </p:sp>
      <p:pic>
        <p:nvPicPr>
          <p:cNvPr descr="img/prior_effect.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Three divisors</a:t>
            </a:r>
          </a:p>
        </p:txBody>
      </p:sp>
      <p:pic>
        <p:nvPicPr>
          <p:cNvPr descr="img/divisor_family.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Unbiased is not the same as best</a:t>
            </a:r>
          </a:p>
        </p:txBody>
      </p:sp>
      <p:pic>
        <p:nvPicPr>
          <p:cNvPr descr="img/estimators_compar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n comes from: the likelihood</a:t>
            </a:r>
          </a:p>
        </p:txBody>
      </p:sp>
      <p:pic>
        <p:nvPicPr>
          <p:cNvPr descr="img/mle_varianc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n − 1 comes from: a lost degree of freedom</a:t>
            </a:r>
          </a:p>
        </p:txBody>
      </p:sp>
      <p:pic>
        <p:nvPicPr>
          <p:cNvPr descr="img/bessel.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n + 1 comes from: the smallest MSE</a:t>
            </a:r>
          </a:p>
        </p:txBody>
      </p:sp>
      <p:pic>
        <p:nvPicPr>
          <p:cNvPr descr="img/mse_divisor.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Supervised learning</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setting</a:t>
            </a:r>
          </a:p>
        </p:txBody>
      </p:sp>
      <p:pic>
        <p:nvPicPr>
          <p:cNvPr descr="img/supervised_principl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Regression or classification</a:t>
            </a:r>
          </a:p>
        </p:txBody>
      </p:sp>
      <p:pic>
        <p:nvPicPr>
          <p:cNvPr descr="img/regression_vs_classification.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Examples</a:t>
            </a:r>
          </a:p>
        </p:txBody>
      </p:sp>
      <p:pic>
        <p:nvPicPr>
          <p:cNvPr descr="img/supervised_app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ways to build a classifier</a:t>
            </a:r>
          </a:p>
        </p:txBody>
      </p:sp>
      <p:pic>
        <p:nvPicPr>
          <p:cNvPr descr="img/discriminative_vs_generativ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Bayes classifier as a MAP rule</a:t>
            </a:r>
          </a:p>
        </p:txBody>
      </p:sp>
      <p:pic>
        <p:nvPicPr>
          <p:cNvPr descr="img/eq_bayes_classifier.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Bayes classifier</a:t>
            </a:r>
          </a:p>
        </p:txBody>
      </p:sp>
      <p:pic>
        <p:nvPicPr>
          <p:cNvPr descr="img/bayes_ingredient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Naive Bayes: assume the features are independent</a:t>
            </a:r>
          </a:p>
        </p:txBody>
      </p:sp>
      <p:pic>
        <p:nvPicPr>
          <p:cNvPr descr="img/eq_naive_baye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Naive Bayes: spam filtering</a:t>
            </a:r>
          </a:p>
        </p:txBody>
      </p:sp>
      <p:pic>
        <p:nvPicPr>
          <p:cNvPr descr="img/spam_filter.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Naive Bayes: the zero distribution problem</a:t>
            </a:r>
          </a:p>
        </p:txBody>
      </p:sp>
      <p:pic>
        <p:nvPicPr>
          <p:cNvPr descr="img/laplace_smoothing.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Naive Bayes on continuous features</a:t>
            </a:r>
          </a:p>
        </p:txBody>
      </p:sp>
      <p:pic>
        <p:nvPicPr>
          <p:cNvPr descr="img/naive_bayes_gaussian.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Linear discriminant analysis</a:t>
            </a:r>
          </a:p>
        </p:txBody>
      </p:sp>
      <p:pic>
        <p:nvPicPr>
          <p:cNvPr descr="img/lda_setup.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LDA, step by step</a:t>
            </a:r>
          </a:p>
        </p:txBody>
      </p:sp>
      <p:pic>
        <p:nvPicPr>
          <p:cNvPr descr="img/lda_fit_step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LDA: computing the rule</a:t>
            </a:r>
          </a:p>
        </p:txBody>
      </p:sp>
      <p:pic>
        <p:nvPicPr>
          <p:cNvPr descr="img/lda_derivation.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LDA: a linear decision boundary</a:t>
            </a:r>
          </a:p>
        </p:txBody>
      </p:sp>
      <p:pic>
        <p:nvPicPr>
          <p:cNvPr descr="img/lda_boundary.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LDA: why the boundary is straight</a:t>
            </a:r>
          </a:p>
        </p:txBody>
      </p:sp>
      <p:pic>
        <p:nvPicPr>
          <p:cNvPr descr="img/lda_why_linear.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LDA: values estimated from the training set</a:t>
            </a:r>
          </a:p>
        </p:txBody>
      </p:sp>
      <p:pic>
        <p:nvPicPr>
          <p:cNvPr descr="img/lda_training.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QDA: one covariance per class</a:t>
            </a:r>
          </a:p>
        </p:txBody>
      </p:sp>
      <p:pic>
        <p:nvPicPr>
          <p:cNvPr descr="img/qda_vs_lda.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QDA shapes</a:t>
            </a:r>
          </a:p>
        </p:txBody>
      </p:sp>
      <p:pic>
        <p:nvPicPr>
          <p:cNvPr descr="img/qda_shape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LDA vs QDA: costs &amp; benefits</a:t>
            </a:r>
          </a:p>
        </p:txBody>
      </p:sp>
      <p:pic>
        <p:nvPicPr>
          <p:cNvPr descr="img/lda_qda_cost.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Unsupervised learning</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setting</a:t>
            </a:r>
          </a:p>
        </p:txBody>
      </p:sp>
      <p:pic>
        <p:nvPicPr>
          <p:cNvPr descr="img/unsupervised_principl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families</a:t>
            </a:r>
          </a:p>
        </p:txBody>
      </p:sp>
      <p:pic>
        <p:nvPicPr>
          <p:cNvPr descr="img/dimred_vs_clustering.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that looks like in practice</a:t>
            </a:r>
          </a:p>
        </p:txBody>
      </p:sp>
      <p:pic>
        <p:nvPicPr>
          <p:cNvPr descr="img/unsupervised_app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k-means goal</a:t>
            </a:r>
          </a:p>
        </p:txBody>
      </p:sp>
      <p:pic>
        <p:nvPicPr>
          <p:cNvPr descr="img/eq_kmean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k-means algorithm</a:t>
            </a:r>
          </a:p>
        </p:txBody>
      </p:sp>
      <p:pic>
        <p:nvPicPr>
          <p:cNvPr descr="img/kmeans_algorithm.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k-means limitations</a:t>
            </a:r>
          </a:p>
        </p:txBody>
      </p:sp>
      <p:pic>
        <p:nvPicPr>
          <p:cNvPr descr="img/kmeans_weaknesse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PCA: directions of maximum variance</a:t>
            </a:r>
          </a:p>
        </p:txBody>
      </p:sp>
      <p:pic>
        <p:nvPicPr>
          <p:cNvPr descr="img/pca_projection.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PCA: how much can be dropped</a:t>
            </a:r>
          </a:p>
        </p:txBody>
      </p:sp>
      <p:pic>
        <p:nvPicPr>
          <p:cNvPr descr="img/pca_spectrum.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Conclusion</a:t>
            </a:r>
          </a:p>
        </p:txBody>
      </p:sp>
      <p:pic>
        <p:nvPicPr>
          <p:cNvPr descr="img/concept_map.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Introduction and Reminders on Machine Learning</dc:title>
  <dc:creator/>
  <cp:keywords/>
  <dcterms:created xsi:type="dcterms:W3CDTF">2026-09-29T21:44:00Z</dcterms:created>
  <dcterms:modified xsi:type="dcterms:W3CDTF">2026-09-29T21:44:00Z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1 — Lecture</vt:lpwstr>
  </property>
  <property fmtid="{D5CDD505-2E9C-101B-9397-08002B2CF9AE}" pid="3" name="subtitle">
    <vt:lpwstr>Advanced Machine Learning · MSc DSBA · 2026  Paul Dubois</vt:lpwstr>
  </property>
</Properties>
</file>