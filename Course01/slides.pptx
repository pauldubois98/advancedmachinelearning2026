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6" Type="http://schemas.openxmlformats.org/officeDocument/2006/relationships/viewProps" Target="viewProps.xml" /><Relationship Id="rId65" Type="http://schemas.openxmlformats.org/officeDocument/2006/relationships/presProps" Target="presProps.xml" /><Relationship Id="rId1" Type="http://schemas.openxmlformats.org/officeDocument/2006/relationships/slideMaster" Target="slideMasters/slideMaster1.xml" /><Relationship Id="rId68" Type="http://schemas.openxmlformats.org/officeDocument/2006/relationships/tableStyles" Target="tableStyles.xml" /><Relationship Id="rId6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4.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8.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0.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5.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8.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9.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2.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3.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5.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6.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Introduction and Reminders on Machine Learning</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Machine Learning · MSc DSBA · 2026</a:t>
            </a:r>
            <a:br/>
            <a:br/>
            <a:r>
              <a:rPr/>
              <a:t>Paul Dubois</a:t>
            </a:r>
            <a:br/>
            <a:br/>
          </a:p>
        </p:txBody>
      </p:sp>
      <p:sp>
        <p:nvSpPr>
          <p:cNvPr id="4" name="Date Placeholder 3"/>
          <p:cNvSpPr>
            <a:spLocks noGrp="1"/>
          </p:cNvSpPr>
          <p:nvPr>
            <p:ph idx="10" sz="half" type="dt"/>
          </p:nvPr>
        </p:nvSpPr>
        <p:spPr/>
        <p:txBody>
          <a:bodyPr>
            <a:normAutofit/>
          </a:bodyPr>
          <a:lstStyle/>
          <a:p>
            <a:pPr lvl="0" indent="0" marL="0">
              <a:buNone/>
            </a:pPr>
            <a:r>
              <a:rPr/>
              <a:t>Week 1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Practical information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This course, in one slide</a:t>
            </a:r>
          </a:p>
        </p:txBody>
      </p:sp>
      <p:pic>
        <p:nvPicPr>
          <p:cNvPr descr="img/abou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you are expected to know already</a:t>
            </a:r>
          </a:p>
        </p:txBody>
      </p:sp>
      <p:pic>
        <p:nvPicPr>
          <p:cNvPr descr="img/prerequisit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Grading</a:t>
            </a:r>
          </a:p>
        </p:txBody>
      </p:sp>
      <p:sp>
        <p:nvSpPr>
          <p:cNvPr id="3" name="Content Placeholder 2"/>
          <p:cNvSpPr>
            <a:spLocks noGrp="1"/>
          </p:cNvSpPr>
          <p:nvPr>
            <p:ph idx="1"/>
          </p:nvPr>
        </p:nvSpPr>
        <p:spPr/>
        <p:txBody>
          <a:bodyPr anchor="ctr">
            <a:normAutofit/>
          </a:bodyPr>
          <a:lstStyle/>
          <a:p>
            <a:pPr lvl="0" indent="0" marL="0" algn="ctr">
              <a:buNone/>
            </a:pPr>
            <a:r>
              <a:rPr sz="1600"/>
              <a:t>100% of your grade will be based on the final project report.</a:t>
            </a:r>
          </a:p>
          <a:p>
            <a:pPr lvl="0" indent="0" marL="0" algn="ctr">
              <a:buNone/>
            </a:pPr>
            <a:r>
              <a:rPr sz="1600"/>
              <a:t>The goal is for you to pick up some topic of your interest, with public data available. Produce an analysis using one or more technique(s) introduced during this course. You will write your findings in a report of ~5 pages.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Reading material</a:t>
            </a:r>
          </a:p>
        </p:txBody>
      </p:sp>
      <p:sp>
        <p:nvSpPr>
          <p:cNvPr id="3" name="Content Placeholder 2"/>
          <p:cNvSpPr>
            <a:spLocks noGrp="1"/>
          </p:cNvSpPr>
          <p:nvPr>
            <p:ph idx="1"/>
          </p:nvPr>
        </p:nvSpPr>
        <p:spPr/>
        <p:txBody>
          <a:bodyPr>
            <a:normAutofit/>
          </a:bodyPr>
          <a:lstStyle/>
          <a:p>
            <a:pPr lvl="0"/>
            <a:r>
              <a:rPr/>
              <a:t>G. James, D. Witten, T. Hastie, R. Tibshirani — </a:t>
            </a:r>
            <a:r>
              <a:rPr i="1"/>
              <a:t>An Introduction to Statistical Learning</a:t>
            </a:r>
            <a:r>
              <a:rPr/>
              <a:t> (2013)</a:t>
            </a:r>
          </a:p>
          <a:p>
            <a:pPr lvl="0"/>
            <a:r>
              <a:rPr/>
              <a:t>T. Hastie, R. Tibshirani, J. Friedman — </a:t>
            </a:r>
            <a:r>
              <a:rPr i="1"/>
              <a:t>The Elements of Statistical Learning</a:t>
            </a:r>
            <a:r>
              <a:rPr/>
              <a:t> (2009)</a:t>
            </a:r>
          </a:p>
          <a:p>
            <a:pPr lvl="0"/>
            <a:r>
              <a:rPr/>
              <a:t>C. M. Bishop — </a:t>
            </a:r>
            <a:r>
              <a:rPr i="1"/>
              <a:t>Pattern Recognition and Machine Learning</a:t>
            </a:r>
            <a:r>
              <a:rPr/>
              <a:t> (2006)</a:t>
            </a:r>
          </a:p>
          <a:p>
            <a:pPr lvl="0" indent="0" marL="0">
              <a:buNone/>
            </a:pPr>
            <a:r>
              <a:rPr/>
              <a:t>Slides, labs, data and announcements live on Edunao.</a:t>
            </a:r>
            <a:br/>
            <a:r>
              <a:rPr/>
              <a:t>The slides are not comprehensive.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it is used</a:t>
            </a:r>
          </a:p>
        </p:txBody>
      </p:sp>
      <p:pic>
        <p:nvPicPr>
          <p:cNvPr descr="img/application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Reminders on parameter estimation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Learning is estimating parameters</a:t>
            </a:r>
          </a:p>
        </p:txBody>
      </p:sp>
      <p:pic>
        <p:nvPicPr>
          <p:cNvPr descr="img/estimation_setu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close, on average?</a:t>
            </a:r>
          </a:p>
        </p:txBody>
      </p:sp>
      <p:pic>
        <p:nvPicPr>
          <p:cNvPr descr="img/bia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stable?</a:t>
            </a:r>
          </a:p>
        </p:txBody>
      </p:sp>
      <p:pic>
        <p:nvPicPr>
          <p:cNvPr descr="img/varianc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Bias and variance are independent problems</a:t>
            </a:r>
          </a:p>
        </p:txBody>
      </p:sp>
      <p:pic>
        <p:nvPicPr>
          <p:cNvPr descr="img/dartboar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number for both bias &amp; var</a:t>
            </a:r>
          </a:p>
        </p:txBody>
      </p:sp>
      <p:pic>
        <p:nvPicPr>
          <p:cNvPr descr="img/eq_ms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ways to find a good estimator</a:t>
            </a:r>
          </a:p>
        </p:txBody>
      </p:sp>
      <p:pic>
        <p:nvPicPr>
          <p:cNvPr descr="img/three_method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Method of moments: match what you can compute</a:t>
            </a:r>
          </a:p>
        </p:txBody>
      </p:sp>
      <p:pic>
        <p:nvPicPr>
          <p:cNvPr descr="img/mom_ide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Method of moments: the Gaussian case</a:t>
            </a:r>
          </a:p>
        </p:txBody>
      </p:sp>
      <p:pic>
        <p:nvPicPr>
          <p:cNvPr descr="img/mom_gaussia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the method of moments is worth</a:t>
            </a:r>
          </a:p>
        </p:txBody>
      </p:sp>
      <p:pic>
        <p:nvPicPr>
          <p:cNvPr descr="img/mom_pro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is likelihood?</a:t>
            </a:r>
          </a:p>
        </p:txBody>
      </p:sp>
      <p:pic>
        <p:nvPicPr>
          <p:cNvPr descr="img/eq_likelihoo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Likelihood on data</a:t>
            </a:r>
          </a:p>
        </p:txBody>
      </p:sp>
      <p:pic>
        <p:nvPicPr>
          <p:cNvPr descr="img/likelihood_buil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Maximum likelihood on data</a:t>
            </a:r>
          </a:p>
        </p:txBody>
      </p:sp>
      <p:pic>
        <p:nvPicPr>
          <p:cNvPr descr="img/mle_ide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taking the log</a:t>
            </a:r>
          </a:p>
        </p:txBody>
      </p:sp>
      <p:pic>
        <p:nvPicPr>
          <p:cNvPr descr="img/log_likelihoo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Maximum likelihood: the Gaussian case</a:t>
            </a:r>
          </a:p>
        </p:txBody>
      </p:sp>
      <p:pic>
        <p:nvPicPr>
          <p:cNvPr descr="img/mle_gaussia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maximum likelihood is worth</a:t>
            </a:r>
          </a:p>
        </p:txBody>
      </p:sp>
      <p:pic>
        <p:nvPicPr>
          <p:cNvPr descr="img/mle_pro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When parameters follow a random distribution</a:t>
            </a:r>
          </a:p>
        </p:txBody>
      </p:sp>
      <p:pic>
        <p:nvPicPr>
          <p:cNvPr descr="img/bayes_setu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posterior</a:t>
            </a:r>
          </a:p>
        </p:txBody>
      </p:sp>
      <p:pic>
        <p:nvPicPr>
          <p:cNvPr descr="img/eq_posterio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is a “cost”?</a:t>
            </a:r>
          </a:p>
        </p:txBody>
      </p:sp>
      <p:pic>
        <p:nvPicPr>
          <p:cNvPr descr="img/cost_ide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costs, three estimators</a:t>
            </a:r>
          </a:p>
        </p:txBody>
      </p:sp>
      <p:pic>
        <p:nvPicPr>
          <p:cNvPr descr="img/cost_zoo.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much the prior matters</a:t>
            </a:r>
          </a:p>
        </p:txBody>
      </p:sp>
      <p:pic>
        <p:nvPicPr>
          <p:cNvPr descr="img/prior_effec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divisors</a:t>
            </a:r>
          </a:p>
        </p:txBody>
      </p:sp>
      <p:pic>
        <p:nvPicPr>
          <p:cNvPr descr="img/divisor_famil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Unbiased is not the same as best</a:t>
            </a:r>
          </a:p>
        </p:txBody>
      </p:sp>
      <p:pic>
        <p:nvPicPr>
          <p:cNvPr descr="img/estimators_compar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n comes from: the likelihood</a:t>
            </a:r>
          </a:p>
        </p:txBody>
      </p:sp>
      <p:pic>
        <p:nvPicPr>
          <p:cNvPr descr="img/mle_varianc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n − 1 comes from: a lost degree of freedom</a:t>
            </a:r>
          </a:p>
        </p:txBody>
      </p:sp>
      <p:pic>
        <p:nvPicPr>
          <p:cNvPr descr="img/bessel.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n + 1 comes from: the smallest MSE</a:t>
            </a:r>
          </a:p>
        </p:txBody>
      </p:sp>
      <p:pic>
        <p:nvPicPr>
          <p:cNvPr descr="img/mse_diviso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Supervised learning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setting</a:t>
            </a:r>
          </a:p>
        </p:txBody>
      </p:sp>
      <p:pic>
        <p:nvPicPr>
          <p:cNvPr descr="img/supervised_principl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Regression or classification</a:t>
            </a:r>
          </a:p>
        </p:txBody>
      </p:sp>
      <p:pic>
        <p:nvPicPr>
          <p:cNvPr descr="img/regression_vs_classificatio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Examples</a:t>
            </a:r>
          </a:p>
        </p:txBody>
      </p:sp>
      <p:pic>
        <p:nvPicPr>
          <p:cNvPr descr="img/supervised_ap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ways to build a classifier</a:t>
            </a:r>
          </a:p>
        </p:txBody>
      </p:sp>
      <p:pic>
        <p:nvPicPr>
          <p:cNvPr descr="img/discriminative_vs_generativ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Bayes classifier as a MAP rule</a:t>
            </a:r>
          </a:p>
        </p:txBody>
      </p:sp>
      <p:pic>
        <p:nvPicPr>
          <p:cNvPr descr="img/eq_bayes_classifie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Bayes classifier</a:t>
            </a:r>
          </a:p>
        </p:txBody>
      </p:sp>
      <p:pic>
        <p:nvPicPr>
          <p:cNvPr descr="img/bayes_ingredient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assume the features are independent</a:t>
            </a:r>
          </a:p>
        </p:txBody>
      </p:sp>
      <p:pic>
        <p:nvPicPr>
          <p:cNvPr descr="img/eq_naive_bay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spam filtering</a:t>
            </a:r>
          </a:p>
        </p:txBody>
      </p:sp>
      <p:pic>
        <p:nvPicPr>
          <p:cNvPr descr="img/spam_filte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the zero distribution problem</a:t>
            </a:r>
          </a:p>
        </p:txBody>
      </p:sp>
      <p:pic>
        <p:nvPicPr>
          <p:cNvPr descr="img/laplace_smoothing.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on continuous features</a:t>
            </a:r>
          </a:p>
        </p:txBody>
      </p:sp>
      <p:pic>
        <p:nvPicPr>
          <p:cNvPr descr="img/naive_bayes_gaussia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Linear discriminant analysis</a:t>
            </a:r>
          </a:p>
        </p:txBody>
      </p:sp>
      <p:pic>
        <p:nvPicPr>
          <p:cNvPr descr="img/lda_setu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step by step</a:t>
            </a:r>
          </a:p>
        </p:txBody>
      </p:sp>
      <p:pic>
        <p:nvPicPr>
          <p:cNvPr descr="img/lda_fit_ste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computing the rule</a:t>
            </a:r>
          </a:p>
        </p:txBody>
      </p:sp>
      <p:pic>
        <p:nvPicPr>
          <p:cNvPr descr="img/lda_derivatio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a linear decision boundary</a:t>
            </a:r>
          </a:p>
        </p:txBody>
      </p:sp>
      <p:pic>
        <p:nvPicPr>
          <p:cNvPr descr="img/lda_boundar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why the boundary is straight</a:t>
            </a:r>
          </a:p>
        </p:txBody>
      </p:sp>
      <p:pic>
        <p:nvPicPr>
          <p:cNvPr descr="img/lda_why_linea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values estimated from the training set</a:t>
            </a:r>
          </a:p>
        </p:txBody>
      </p:sp>
      <p:pic>
        <p:nvPicPr>
          <p:cNvPr descr="img/lda_training.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QDA: one covariance per class</a:t>
            </a:r>
          </a:p>
        </p:txBody>
      </p:sp>
      <p:pic>
        <p:nvPicPr>
          <p:cNvPr descr="img/qda_vs_ld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QDA shapes</a:t>
            </a:r>
          </a:p>
        </p:txBody>
      </p:sp>
      <p:pic>
        <p:nvPicPr>
          <p:cNvPr descr="img/qda_shap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vs QDA: costs &amp; benefits</a:t>
            </a:r>
          </a:p>
        </p:txBody>
      </p:sp>
      <p:pic>
        <p:nvPicPr>
          <p:cNvPr descr="img/lda_qda_cos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Unsupervised learning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setting</a:t>
            </a:r>
          </a:p>
        </p:txBody>
      </p:sp>
      <p:pic>
        <p:nvPicPr>
          <p:cNvPr descr="img/unsupervised_principl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families</a:t>
            </a:r>
          </a:p>
        </p:txBody>
      </p:sp>
      <p:pic>
        <p:nvPicPr>
          <p:cNvPr descr="img/dimred_vs_clustering.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that looks like in practice</a:t>
            </a:r>
          </a:p>
        </p:txBody>
      </p:sp>
      <p:pic>
        <p:nvPicPr>
          <p:cNvPr descr="img/unsupervised_ap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k-means goal</a:t>
            </a:r>
          </a:p>
        </p:txBody>
      </p:sp>
      <p:pic>
        <p:nvPicPr>
          <p:cNvPr descr="img/eq_kmean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k-means algorithm</a:t>
            </a:r>
          </a:p>
        </p:txBody>
      </p:sp>
      <p:pic>
        <p:nvPicPr>
          <p:cNvPr descr="img/kmeans_algorithm.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k-means limitations</a:t>
            </a:r>
          </a:p>
        </p:txBody>
      </p:sp>
      <p:pic>
        <p:nvPicPr>
          <p:cNvPr descr="img/kmeans_weakness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PCA: directions of maximum variance</a:t>
            </a:r>
          </a:p>
        </p:txBody>
      </p:sp>
      <p:pic>
        <p:nvPicPr>
          <p:cNvPr descr="img/pca_projectio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PCA: how much can be dropped</a:t>
            </a:r>
          </a:p>
        </p:txBody>
      </p:sp>
      <p:pic>
        <p:nvPicPr>
          <p:cNvPr descr="img/pca_spectrum.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Conclusion</a:t>
            </a:r>
          </a:p>
        </p:txBody>
      </p:sp>
      <p:pic>
        <p:nvPicPr>
          <p:cNvPr descr="img/concept_ma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Introduction and Reminders on Machine Learning</dc:title>
  <dc:creator/>
  <cp:keywords/>
  <dcterms:created xsi:type="dcterms:W3CDTF">2026-09-22T22:02:12Z</dcterms:created>
  <dcterms:modified xsi:type="dcterms:W3CDTF">2026-09-22T22:02:12Z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vt:lpwstr>
  </property>
  <property fmtid="{D5CDD505-2E9C-101B-9397-08002B2CF9AE}" pid="3" name="subtitle">
    <vt:lpwstr>Advanced Machine Learning · MSc DSBA · 2026  Paul Dubois</vt:lpwstr>
  </property>
</Properties>
</file>