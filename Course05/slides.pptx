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4" Type="http://schemas.openxmlformats.org/officeDocument/2006/relationships/viewProps" Target="viewProps.xml" /><Relationship Id="rId8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6" Type="http://schemas.openxmlformats.org/officeDocument/2006/relationships/tableStyles" Target="tableStyles.xml" /><Relationship Id="rId8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5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6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7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8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0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2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3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6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7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8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9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0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1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2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3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4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7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8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9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0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1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2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3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4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5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6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7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8.png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9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0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Session 5</a:t>
            </a:r>
            <a:br/>
            <a:r>
              <a:rPr/>
              <a:t>Non-negative Matrix Factorization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Advanced Machine Learning · MSc DSBA · 2026</a:t>
            </a:r>
            <a:br/>
            <a:br/>
            <a:r>
              <a:rPr/>
              <a:t>Paul Dubois</a:t>
            </a:r>
            <a:br/>
            <a:br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Week 5 — Lecture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 matrix as a product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Reducing size</a:t>
            </a:r>
          </a:p>
        </p:txBody>
      </p:sp>
      <p:pic>
        <p:nvPicPr>
          <p:cNvPr descr="img/factorization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Modeling problem</a:t>
            </a:r>
          </a:p>
        </p:txBody>
      </p:sp>
      <p:pic>
        <p:nvPicPr>
          <p:cNvPr descr="img/eq_factoriz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Column as a weighted sum</a:t>
            </a:r>
          </a:p>
        </p:txBody>
      </p:sp>
      <p:pic>
        <p:nvPicPr>
          <p:cNvPr descr="img/factorization_colum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Why non-negative</a:t>
            </a:r>
          </a:p>
        </p:txBody>
      </p:sp>
      <p:pic>
        <p:nvPicPr>
          <p:cNvPr descr="img/why_nonne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Additive components</a:t>
            </a:r>
          </a:p>
        </p:txBody>
      </p:sp>
      <p:pic>
        <p:nvPicPr>
          <p:cNvPr descr="img/nmf_vs_pc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Three questions</a:t>
            </a:r>
          </a:p>
        </p:txBody>
      </p:sp>
      <p:pic>
        <p:nvPicPr>
          <p:cNvPr descr="img/key_aspe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it is used for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Faces: the three matrices</a:t>
            </a:r>
          </a:p>
        </p:txBody>
      </p:sp>
      <p:pic>
        <p:nvPicPr>
          <p:cNvPr descr="img/setup_fac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Faces: what comes out</a:t>
            </a:r>
          </a:p>
        </p:txBody>
      </p:sp>
      <p:pic>
        <p:nvPicPr>
          <p:cNvPr descr="img/app_fac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Hyperspectral unmixing: a cube, unfolded</a:t>
            </a:r>
          </a:p>
        </p:txBody>
      </p:sp>
      <p:pic>
        <p:nvPicPr>
          <p:cNvPr descr="img/setup_c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Hyperspectral unmixing: the three matrices</a:t>
            </a:r>
          </a:p>
        </p:txBody>
      </p:sp>
      <p:pic>
        <p:nvPicPr>
          <p:cNvPr descr="img/setup_spec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Hyperspectral unmixing: what comes out</a:t>
            </a:r>
          </a:p>
        </p:txBody>
      </p:sp>
      <p:pic>
        <p:nvPicPr>
          <p:cNvPr descr="img/app_spec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Topics in text: the three matrices</a:t>
            </a:r>
          </a:p>
        </p:txBody>
      </p:sp>
      <p:pic>
        <p:nvPicPr>
          <p:cNvPr descr="img/setup_topic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Topics in text: what comes out</a:t>
            </a:r>
          </a:p>
        </p:txBody>
      </p:sp>
      <p:pic>
        <p:nvPicPr>
          <p:cNvPr descr="img/app_topic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Fill missing values</a:t>
            </a:r>
          </a:p>
        </p:txBody>
      </p:sp>
      <p:pic>
        <p:nvPicPr>
          <p:cNvPr descr="img/app_recsy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Music: the three matrices</a:t>
            </a:r>
          </a:p>
        </p:txBody>
      </p:sp>
      <p:pic>
        <p:nvPicPr>
          <p:cNvPr descr="img/setup_musi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Music: what comes out</a:t>
            </a:r>
          </a:p>
        </p:txBody>
      </p:sp>
      <p:pic>
        <p:nvPicPr>
          <p:cNvPr descr="img/app_musi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Choosing a loss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Entry by entry</a:t>
            </a:r>
          </a:p>
        </p:txBody>
      </p:sp>
      <p:pic>
        <p:nvPicPr>
          <p:cNvPr descr="img/eq_lo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Divergence, not distance</a:t>
            </a:r>
          </a:p>
        </p:txBody>
      </p:sp>
      <p:pic>
        <p:nvPicPr>
          <p:cNvPr descr="img/loss_axio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Classic choices</a:t>
            </a:r>
          </a:p>
        </p:txBody>
      </p:sp>
      <p:pic>
        <p:nvPicPr>
          <p:cNvPr descr="img/loss_zo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Classic choices</a:t>
            </a:r>
          </a:p>
        </p:txBody>
      </p:sp>
      <p:pic>
        <p:nvPicPr>
          <p:cNvPr descr="img/loss_sha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Where a loss comes from</a:t>
            </a:r>
          </a:p>
        </p:txBody>
      </p:sp>
      <p:pic>
        <p:nvPicPr>
          <p:cNvPr descr="img/eq_loss_from_noi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Gaussian noise gives the square</a:t>
            </a:r>
          </a:p>
        </p:txBody>
      </p:sp>
      <p:pic>
        <p:nvPicPr>
          <p:cNvPr descr="img/eq_gaussian_lo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Poisson counts give KL</a:t>
            </a:r>
          </a:p>
        </p:txBody>
      </p:sp>
      <p:pic>
        <p:nvPicPr>
          <p:cNvPr descr="img/eq_poisson_lo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Multiplicative noise gives Itakura–Saito</a:t>
            </a:r>
          </a:p>
        </p:txBody>
      </p:sp>
      <p:pic>
        <p:nvPicPr>
          <p:cNvPr descr="img/eq_is_lo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General formula</a:t>
            </a:r>
          </a:p>
        </p:txBody>
      </p:sp>
      <p:pic>
        <p:nvPicPr>
          <p:cNvPr descr="img/eq_beta_diverg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Derivative</a:t>
            </a:r>
          </a:p>
        </p:txBody>
      </p:sp>
      <p:pic>
        <p:nvPicPr>
          <p:cNvPr descr="img/eq_beta_gradi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Choosing the loss</a:t>
            </a:r>
          </a:p>
        </p:txBody>
      </p:sp>
      <p:pic>
        <p:nvPicPr>
          <p:cNvPr descr="img/loss_choi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Mathematical optimisation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Problem formulation</a:t>
            </a:r>
          </a:p>
        </p:txBody>
      </p:sp>
      <p:pic>
        <p:nvPicPr>
          <p:cNvPr descr="img/eq_probl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Convex in each half</a:t>
            </a:r>
          </a:p>
        </p:txBody>
      </p:sp>
      <p:pic>
        <p:nvPicPr>
          <p:cNvPr descr="img/biconve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Convex in each half</a:t>
            </a:r>
          </a:p>
        </p:txBody>
      </p:sp>
      <p:pic>
        <p:nvPicPr>
          <p:cNvPr descr="img/biconvex_pi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answer is never unique</a:t>
            </a:r>
          </a:p>
        </p:txBody>
      </p:sp>
      <p:pic>
        <p:nvPicPr>
          <p:cNvPr descr="img/eq_ambigu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Hard ill-posed problem</a:t>
            </a:r>
          </a:p>
        </p:txBody>
      </p:sp>
      <p:pic>
        <p:nvPicPr>
          <p:cNvPr descr="img/nmf_hardne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Multiplicative updates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Frobenius norm, as a trace</a:t>
            </a:r>
          </a:p>
        </p:txBody>
      </p:sp>
      <p:pic>
        <p:nvPicPr>
          <p:cNvPr descr="img/eq_frobeni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gradient</a:t>
            </a:r>
          </a:p>
        </p:txBody>
      </p:sp>
      <p:pic>
        <p:nvPicPr>
          <p:cNvPr descr="img/eq_gradi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 &amp; H can be swapped</a:t>
            </a:r>
          </a:p>
        </p:txBody>
      </p:sp>
      <p:pic>
        <p:nvPicPr>
          <p:cNvPr descr="img/eq_symmetr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Gradient descent kept positive</a:t>
            </a:r>
          </a:p>
        </p:txBody>
      </p:sp>
      <p:pic>
        <p:nvPicPr>
          <p:cNvPr descr="img/gradient_negati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One step size per entry</a:t>
            </a:r>
          </a:p>
        </p:txBody>
      </p:sp>
      <p:pic>
        <p:nvPicPr>
          <p:cNvPr descr="img/eq_mu_deriv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Why that step size</a:t>
            </a:r>
          </a:p>
        </p:txBody>
      </p:sp>
      <p:pic>
        <p:nvPicPr>
          <p:cNvPr descr="img/mu_eta_wh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Lee and Seung rules</a:t>
            </a:r>
          </a:p>
        </p:txBody>
      </p:sp>
      <p:pic>
        <p:nvPicPr>
          <p:cNvPr descr="img/eq_mu_frobeni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Why split the gradient</a:t>
            </a:r>
          </a:p>
        </p:txBody>
      </p:sp>
      <p:pic>
        <p:nvPicPr>
          <p:cNvPr descr="img/mu_split_wh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Splitting the gradient</a:t>
            </a:r>
          </a:p>
        </p:txBody>
      </p:sp>
      <p:pic>
        <p:nvPicPr>
          <p:cNvPr descr="img/eq_mu_gene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Why it works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Two nested arguments</a:t>
            </a:r>
          </a:p>
        </p:txBody>
      </p:sp>
      <p:pic>
        <p:nvPicPr>
          <p:cNvPr descr="img/alternate_vs_majoriz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Minimize a majorant</a:t>
            </a:r>
          </a:p>
        </p:txBody>
      </p:sp>
      <p:pic>
        <p:nvPicPr>
          <p:cNvPr descr="img/mm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a surrogate is</a:t>
            </a:r>
          </a:p>
        </p:txBody>
      </p:sp>
      <p:pic>
        <p:nvPicPr>
          <p:cNvPr descr="img/eq_surrogate_frobeni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quadratic surrogate</a:t>
            </a:r>
          </a:p>
        </p:txBody>
      </p:sp>
      <p:pic>
        <p:nvPicPr>
          <p:cNvPr descr="img/eq_surrogate_jens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Minimizing the surrogate</a:t>
            </a:r>
          </a:p>
        </p:txBody>
      </p:sp>
      <p:pic>
        <p:nvPicPr>
          <p:cNvPr descr="img/eq_surrogate_minimiz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Where the step size came from</a:t>
            </a:r>
          </a:p>
        </p:txBody>
      </p:sp>
      <p:pic>
        <p:nvPicPr>
          <p:cNvPr descr="img/mu_eta_surroga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other losses, same recipe</a:t>
            </a:r>
          </a:p>
        </p:txBody>
      </p:sp>
      <p:pic>
        <p:nvPicPr>
          <p:cNvPr descr="img/mu_other_loss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Multiplicative Updates</a:t>
            </a:r>
          </a:p>
        </p:txBody>
      </p:sp>
      <p:pic>
        <p:nvPicPr>
          <p:cNvPr descr="img/mu_algorith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Monotone and slow</a:t>
            </a:r>
          </a:p>
        </p:txBody>
      </p:sp>
      <p:pic>
        <p:nvPicPr>
          <p:cNvPr descr="img/mu_converg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Initialization</a:t>
            </a:r>
          </a:p>
        </p:txBody>
      </p:sp>
      <p:pic>
        <p:nvPicPr>
          <p:cNvPr descr="img/init_strateg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Initialization</a:t>
            </a:r>
          </a:p>
        </p:txBody>
      </p:sp>
      <p:pic>
        <p:nvPicPr>
          <p:cNvPr descr="img/init_geometr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Initialization</a:t>
            </a:r>
          </a:p>
        </p:txBody>
      </p:sp>
      <p:pic>
        <p:nvPicPr>
          <p:cNvPr descr="img/init_fac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Initialization</a:t>
            </a:r>
          </a:p>
        </p:txBody>
      </p:sp>
      <p:pic>
        <p:nvPicPr>
          <p:cNvPr descr="img/init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Weighted NMF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Entries with different importance</a:t>
            </a:r>
          </a:p>
        </p:txBody>
      </p:sp>
      <p:pic>
        <p:nvPicPr>
          <p:cNvPr descr="img/weighted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Weighted loss</a:t>
            </a:r>
          </a:p>
        </p:txBody>
      </p:sp>
      <p:pic>
        <p:nvPicPr>
          <p:cNvPr descr="img/eq_weighted_lo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Weighted rules</a:t>
            </a:r>
          </a:p>
        </p:txBody>
      </p:sp>
      <p:pic>
        <p:nvPicPr>
          <p:cNvPr descr="img/eq_weighted_mu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Matrix completion</a:t>
            </a:r>
          </a:p>
        </p:txBody>
      </p:sp>
      <p:pic>
        <p:nvPicPr>
          <p:cNvPr descr="img/completion_dem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Regularized NMF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Three reasons for a penalty</a:t>
            </a:r>
          </a:p>
        </p:txBody>
      </p:sp>
      <p:pic>
        <p:nvPicPr>
          <p:cNvPr descr="img/reg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penalized loss</a:t>
            </a:r>
          </a:p>
        </p:txBody>
      </p:sp>
      <p:pic>
        <p:nvPicPr>
          <p:cNvPr descr="img/eq_reg_lo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regularized rules</a:t>
            </a:r>
          </a:p>
        </p:txBody>
      </p:sp>
      <p:pic>
        <p:nvPicPr>
          <p:cNvPr descr="img/eq_reg_mu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Sparsity</a:t>
            </a:r>
          </a:p>
        </p:txBody>
      </p:sp>
      <p:pic>
        <p:nvPicPr>
          <p:cNvPr descr="img/sparsity_dem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Other algorithms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Alternating least squares</a:t>
            </a:r>
          </a:p>
        </p:txBody>
      </p:sp>
      <p:pic>
        <p:nvPicPr>
          <p:cNvPr descr="img/als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Rank-one layers</a:t>
            </a:r>
          </a:p>
        </p:txBody>
      </p:sp>
      <p:pic>
        <p:nvPicPr>
          <p:cNvPr descr="img/hal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One layer at a time</a:t>
            </a:r>
          </a:p>
        </p:txBody>
      </p:sp>
      <p:pic>
        <p:nvPicPr>
          <p:cNvPr descr="img/hals_residu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One entry at a time</a:t>
            </a:r>
          </a:p>
        </p:txBody>
      </p:sp>
      <p:pic>
        <p:nvPicPr>
          <p:cNvPr descr="img/hals_colum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HALS in one slide</a:t>
            </a:r>
          </a:p>
        </p:txBody>
      </p:sp>
      <p:pic>
        <p:nvPicPr>
          <p:cNvPr descr="img/hals_algorith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Families of algorithms</a:t>
            </a:r>
          </a:p>
        </p:txBody>
      </p:sp>
      <p:pic>
        <p:nvPicPr>
          <p:cNvPr descr="img/algo_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Three algorithms, measured</a:t>
            </a:r>
          </a:p>
        </p:txBody>
      </p:sp>
      <p:pic>
        <p:nvPicPr>
          <p:cNvPr descr="img/algo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Choosing r</a:t>
            </a:r>
          </a:p>
        </p:txBody>
      </p:sp>
      <p:pic>
        <p:nvPicPr>
          <p:cNvPr descr="img/choosing_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NMF</a:t>
            </a:r>
          </a:p>
        </p:txBody>
      </p:sp>
      <p:pic>
        <p:nvPicPr>
          <p:cNvPr descr="img/nmf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 Non-negative Matrix Factorization</dc:title>
  <dc:creator/>
  <cp:keywords/>
  <dcterms:created xsi:type="dcterms:W3CDTF">2026-10-28T16:31:12Z</dcterms:created>
  <dcterms:modified xsi:type="dcterms:W3CDTF">2026-10-28T16:31:12Z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Week 5 — Lecture</vt:lpwstr>
  </property>
  <property fmtid="{D5CDD505-2E9C-101B-9397-08002B2CF9AE}" pid="3" name="subtitle">
    <vt:lpwstr>Advanced Machine Learning · MSc DSBA · 2026  Paul Dubois</vt:lpwstr>
  </property>
</Properties>
</file>